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9144000" cy="5143500" type="screen16x9"/>
  <p:notesSz cx="6858000" cy="9144000"/>
  <p:embeddedFontLst>
    <p:embeddedFont>
      <p:font typeface="Shadows Into Light" panose="020B0604020202020204" charset="0"/>
      <p:regular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3D4270D-3DB1-4DCB-BA52-5C6B93564B46}">
  <a:tblStyle styleId="{33D4270D-3DB1-4DCB-BA52-5C6B93564B4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40"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b8d65d720c_2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g3b8d65d720c_2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b8d65d720c_2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g3b8d65d720c_2_8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b8d65d720c_2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8" name="Google Shape;158;g3b8d65d720c_2_10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b8d65d720c_2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g3b8d65d720c_2_1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b8d65d720c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g3b8d65d720c_0_6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b8d986b62d_6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g3b8d986b62d_6_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b8d65d720c_2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g3b8d65d720c_2_1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b8d65d720c_2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g3b8d65d720c_2_13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b8d986b62d_6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b8d986b62d_6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b8d65d720c_2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9" name="Google Shape;229;g3b8d65d720c_2_17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b8d986b62d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7" name="Google Shape;237;g3b8d986b62d_2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b8d65d720c_2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1" name="Google Shape;251;g3b8d65d720c_2_19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4"/>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8" name="Google Shape;58;p14"/>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9" name="Google Shape;59;p14"/>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h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0"/>
        <p:cNvGrpSpPr/>
        <p:nvPr/>
      </p:nvGrpSpPr>
      <p:grpSpPr>
        <a:xfrm>
          <a:off x="0" y="0"/>
          <a:ext cx="0" cy="0"/>
          <a:chOff x="0" y="0"/>
          <a:chExt cx="0" cy="0"/>
        </a:xfrm>
      </p:grpSpPr>
      <p:sp>
        <p:nvSpPr>
          <p:cNvPr id="61" name="Google Shape;61;p15"/>
          <p:cNvSpPr txBox="1">
            <a:spLocks noGrp="1"/>
          </p:cNvSpPr>
          <p:nvPr>
            <p:ph type="ctrTitle"/>
          </p:nvPr>
        </p:nvSpPr>
        <p:spPr>
          <a:xfrm>
            <a:off x="342900" y="1065213"/>
            <a:ext cx="3886200" cy="735013"/>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62" name="Google Shape;62;p15"/>
          <p:cNvSpPr txBox="1">
            <a:spLocks noGrp="1"/>
          </p:cNvSpPr>
          <p:nvPr>
            <p:ph type="subTitle" idx="1"/>
          </p:nvPr>
        </p:nvSpPr>
        <p:spPr>
          <a:xfrm>
            <a:off x="685800" y="1943100"/>
            <a:ext cx="3200400" cy="876300"/>
          </a:xfrm>
          <a:prstGeom prst="rect">
            <a:avLst/>
          </a:prstGeom>
          <a:noFill/>
          <a:ln>
            <a:noFill/>
          </a:ln>
        </p:spPr>
        <p:txBody>
          <a:bodyPr spcFirstLastPara="1" wrap="square" lIns="45725" tIns="22850" rIns="45725" bIns="22850" anchor="t" anchorCtr="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a:endParaRPr/>
          </a:p>
        </p:txBody>
      </p:sp>
      <p:sp>
        <p:nvSpPr>
          <p:cNvPr id="63" name="Google Shape;63;p15"/>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64" name="Google Shape;64;p15"/>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65" name="Google Shape;65;p15"/>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h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6"/>
        <p:cNvGrpSpPr/>
        <p:nvPr/>
      </p:nvGrpSpPr>
      <p:grpSpPr>
        <a:xfrm>
          <a:off x="0" y="0"/>
          <a:ext cx="0" cy="0"/>
          <a:chOff x="0" y="0"/>
          <a:chExt cx="0" cy="0"/>
        </a:xfrm>
      </p:grpSpPr>
      <p:sp>
        <p:nvSpPr>
          <p:cNvPr id="67" name="Google Shape;67;p16"/>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68" name="Google Shape;68;p16"/>
          <p:cNvSpPr txBox="1">
            <a:spLocks noGrp="1"/>
          </p:cNvSpPr>
          <p:nvPr>
            <p:ph type="body" idx="1"/>
          </p:nvPr>
        </p:nvSpPr>
        <p:spPr>
          <a:xfrm>
            <a:off x="228600" y="800100"/>
            <a:ext cx="4114800" cy="2262982"/>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69" name="Google Shape;69;p16"/>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0" name="Google Shape;70;p16"/>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1" name="Google Shape;71;p16"/>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h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361156" y="2203450"/>
            <a:ext cx="3886200" cy="681038"/>
          </a:xfrm>
          <a:prstGeom prst="rect">
            <a:avLst/>
          </a:prstGeom>
          <a:noFill/>
          <a:ln>
            <a:noFill/>
          </a:ln>
        </p:spPr>
        <p:txBody>
          <a:bodyPr spcFirstLastPara="1" wrap="square" lIns="45725" tIns="22850" rIns="45725" bIns="22850" anchor="t" anchorCtr="0">
            <a:normAutofit/>
          </a:bodyPr>
          <a:lstStyle>
            <a:lvl1pPr lvl="0" algn="l">
              <a:spcBef>
                <a:spcPts val="0"/>
              </a:spcBef>
              <a:spcAft>
                <a:spcPts val="0"/>
              </a:spcAft>
              <a:buClr>
                <a:schemeClr val="dk1"/>
              </a:buClr>
              <a:buSzPts val="2000"/>
              <a:buFont typeface="Calibri"/>
              <a:buNone/>
              <a:defRPr sz="2000" b="1"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74" name="Google Shape;74;p17"/>
          <p:cNvSpPr txBox="1">
            <a:spLocks noGrp="1"/>
          </p:cNvSpPr>
          <p:nvPr>
            <p:ph type="body" idx="1"/>
          </p:nvPr>
        </p:nvSpPr>
        <p:spPr>
          <a:xfrm>
            <a:off x="361156" y="1453357"/>
            <a:ext cx="3886200" cy="750094"/>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rgbClr val="888888"/>
              </a:buClr>
              <a:buSzPts val="1000"/>
              <a:buNone/>
              <a:defRPr sz="1000">
                <a:solidFill>
                  <a:srgbClr val="888888"/>
                </a:solidFill>
              </a:defRPr>
            </a:lvl1pPr>
            <a:lvl2pPr marL="914400" lvl="1" indent="-228600" algn="l">
              <a:spcBef>
                <a:spcPts val="200"/>
              </a:spcBef>
              <a:spcAft>
                <a:spcPts val="0"/>
              </a:spcAft>
              <a:buClr>
                <a:srgbClr val="888888"/>
              </a:buClr>
              <a:buSzPts val="900"/>
              <a:buNone/>
              <a:defRPr sz="900">
                <a:solidFill>
                  <a:srgbClr val="888888"/>
                </a:solidFill>
              </a:defRPr>
            </a:lvl2pPr>
            <a:lvl3pPr marL="1371600" lvl="2" indent="-228600" algn="l">
              <a:spcBef>
                <a:spcPts val="200"/>
              </a:spcBef>
              <a:spcAft>
                <a:spcPts val="0"/>
              </a:spcAft>
              <a:buClr>
                <a:srgbClr val="888888"/>
              </a:buClr>
              <a:buSzPts val="800"/>
              <a:buNone/>
              <a:defRPr sz="800">
                <a:solidFill>
                  <a:srgbClr val="888888"/>
                </a:solidFill>
              </a:defRPr>
            </a:lvl3pPr>
            <a:lvl4pPr marL="1828800" lvl="3" indent="-228600" algn="l">
              <a:spcBef>
                <a:spcPts val="100"/>
              </a:spcBef>
              <a:spcAft>
                <a:spcPts val="0"/>
              </a:spcAft>
              <a:buClr>
                <a:srgbClr val="888888"/>
              </a:buClr>
              <a:buSzPts val="700"/>
              <a:buNone/>
              <a:defRPr sz="700">
                <a:solidFill>
                  <a:srgbClr val="888888"/>
                </a:solidFill>
              </a:defRPr>
            </a:lvl4pPr>
            <a:lvl5pPr marL="2286000" lvl="4" indent="-228600" algn="l">
              <a:spcBef>
                <a:spcPts val="100"/>
              </a:spcBef>
              <a:spcAft>
                <a:spcPts val="0"/>
              </a:spcAft>
              <a:buClr>
                <a:srgbClr val="888888"/>
              </a:buClr>
              <a:buSzPts val="700"/>
              <a:buNone/>
              <a:defRPr sz="700">
                <a:solidFill>
                  <a:srgbClr val="888888"/>
                </a:solidFill>
              </a:defRPr>
            </a:lvl5pPr>
            <a:lvl6pPr marL="2743200" lvl="5" indent="-228600" algn="l">
              <a:spcBef>
                <a:spcPts val="100"/>
              </a:spcBef>
              <a:spcAft>
                <a:spcPts val="0"/>
              </a:spcAft>
              <a:buClr>
                <a:srgbClr val="888888"/>
              </a:buClr>
              <a:buSzPts val="700"/>
              <a:buNone/>
              <a:defRPr sz="700">
                <a:solidFill>
                  <a:srgbClr val="888888"/>
                </a:solidFill>
              </a:defRPr>
            </a:lvl6pPr>
            <a:lvl7pPr marL="3200400" lvl="6" indent="-228600" algn="l">
              <a:spcBef>
                <a:spcPts val="100"/>
              </a:spcBef>
              <a:spcAft>
                <a:spcPts val="0"/>
              </a:spcAft>
              <a:buClr>
                <a:srgbClr val="888888"/>
              </a:buClr>
              <a:buSzPts val="700"/>
              <a:buNone/>
              <a:defRPr sz="700">
                <a:solidFill>
                  <a:srgbClr val="888888"/>
                </a:solidFill>
              </a:defRPr>
            </a:lvl7pPr>
            <a:lvl8pPr marL="3657600" lvl="7" indent="-228600" algn="l">
              <a:spcBef>
                <a:spcPts val="100"/>
              </a:spcBef>
              <a:spcAft>
                <a:spcPts val="0"/>
              </a:spcAft>
              <a:buClr>
                <a:srgbClr val="888888"/>
              </a:buClr>
              <a:buSzPts val="700"/>
              <a:buNone/>
              <a:defRPr sz="700">
                <a:solidFill>
                  <a:srgbClr val="888888"/>
                </a:solidFill>
              </a:defRPr>
            </a:lvl8pPr>
            <a:lvl9pPr marL="4114800" lvl="8" indent="-228600" algn="l">
              <a:spcBef>
                <a:spcPts val="100"/>
              </a:spcBef>
              <a:spcAft>
                <a:spcPts val="0"/>
              </a:spcAft>
              <a:buClr>
                <a:srgbClr val="888888"/>
              </a:buClr>
              <a:buSzPts val="700"/>
              <a:buNone/>
              <a:defRPr sz="700">
                <a:solidFill>
                  <a:srgbClr val="888888"/>
                </a:solidFill>
              </a:defRPr>
            </a:lvl9pPr>
          </a:lstStyle>
          <a:p>
            <a:endParaRPr/>
          </a:p>
        </p:txBody>
      </p:sp>
      <p:sp>
        <p:nvSpPr>
          <p:cNvPr id="75" name="Google Shape;75;p17"/>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6" name="Google Shape;76;p17"/>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7" name="Google Shape;77;p17"/>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h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8"/>
        <p:cNvGrpSpPr/>
        <p:nvPr/>
      </p:nvGrpSpPr>
      <p:grpSpPr>
        <a:xfrm>
          <a:off x="0" y="0"/>
          <a:ext cx="0" cy="0"/>
          <a:chOff x="0" y="0"/>
          <a:chExt cx="0" cy="0"/>
        </a:xfrm>
      </p:grpSpPr>
      <p:sp>
        <p:nvSpPr>
          <p:cNvPr id="79" name="Google Shape;79;p18"/>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80" name="Google Shape;80;p18"/>
          <p:cNvSpPr txBox="1">
            <a:spLocks noGrp="1"/>
          </p:cNvSpPr>
          <p:nvPr>
            <p:ph type="body" idx="1"/>
          </p:nvPr>
        </p:nvSpPr>
        <p:spPr>
          <a:xfrm>
            <a:off x="228600" y="800100"/>
            <a:ext cx="2019300" cy="2262982"/>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a:endParaRPr/>
          </a:p>
        </p:txBody>
      </p:sp>
      <p:sp>
        <p:nvSpPr>
          <p:cNvPr id="81" name="Google Shape;81;p18"/>
          <p:cNvSpPr txBox="1">
            <a:spLocks noGrp="1"/>
          </p:cNvSpPr>
          <p:nvPr>
            <p:ph type="body" idx="2"/>
          </p:nvPr>
        </p:nvSpPr>
        <p:spPr>
          <a:xfrm>
            <a:off x="2324100" y="800100"/>
            <a:ext cx="2019300" cy="2262982"/>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a:endParaRPr/>
          </a:p>
        </p:txBody>
      </p:sp>
      <p:sp>
        <p:nvSpPr>
          <p:cNvPr id="82" name="Google Shape;82;p18"/>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3" name="Google Shape;83;p18"/>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4" name="Google Shape;84;p18"/>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h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5"/>
        <p:cNvGrpSpPr/>
        <p:nvPr/>
      </p:nvGrpSpPr>
      <p:grpSpPr>
        <a:xfrm>
          <a:off x="0" y="0"/>
          <a:ext cx="0" cy="0"/>
          <a:chOff x="0" y="0"/>
          <a:chExt cx="0" cy="0"/>
        </a:xfrm>
      </p:grpSpPr>
      <p:sp>
        <p:nvSpPr>
          <p:cNvPr id="86" name="Google Shape;86;p19"/>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87" name="Google Shape;87;p19"/>
          <p:cNvSpPr txBox="1">
            <a:spLocks noGrp="1"/>
          </p:cNvSpPr>
          <p:nvPr>
            <p:ph type="body" idx="1"/>
          </p:nvPr>
        </p:nvSpPr>
        <p:spPr>
          <a:xfrm>
            <a:off x="228600" y="767556"/>
            <a:ext cx="2020094" cy="319881"/>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a:endParaRPr/>
          </a:p>
        </p:txBody>
      </p:sp>
      <p:sp>
        <p:nvSpPr>
          <p:cNvPr id="88" name="Google Shape;88;p19"/>
          <p:cNvSpPr txBox="1">
            <a:spLocks noGrp="1"/>
          </p:cNvSpPr>
          <p:nvPr>
            <p:ph type="body" idx="2"/>
          </p:nvPr>
        </p:nvSpPr>
        <p:spPr>
          <a:xfrm>
            <a:off x="228600" y="1087438"/>
            <a:ext cx="2020094" cy="1975644"/>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a:endParaRPr/>
          </a:p>
        </p:txBody>
      </p:sp>
      <p:sp>
        <p:nvSpPr>
          <p:cNvPr id="89" name="Google Shape;89;p19"/>
          <p:cNvSpPr txBox="1">
            <a:spLocks noGrp="1"/>
          </p:cNvSpPr>
          <p:nvPr>
            <p:ph type="body" idx="3"/>
          </p:nvPr>
        </p:nvSpPr>
        <p:spPr>
          <a:xfrm>
            <a:off x="2322513" y="767556"/>
            <a:ext cx="2020888" cy="319881"/>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a:endParaRPr/>
          </a:p>
        </p:txBody>
      </p:sp>
      <p:sp>
        <p:nvSpPr>
          <p:cNvPr id="90" name="Google Shape;90;p19"/>
          <p:cNvSpPr txBox="1">
            <a:spLocks noGrp="1"/>
          </p:cNvSpPr>
          <p:nvPr>
            <p:ph type="body" idx="4"/>
          </p:nvPr>
        </p:nvSpPr>
        <p:spPr>
          <a:xfrm>
            <a:off x="2322513" y="1087438"/>
            <a:ext cx="2020888" cy="1975644"/>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a:endParaRPr/>
          </a:p>
        </p:txBody>
      </p:sp>
      <p:sp>
        <p:nvSpPr>
          <p:cNvPr id="91" name="Google Shape;91;p19"/>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92" name="Google Shape;92;p19"/>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93" name="Google Shape;93;p19"/>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h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4"/>
        <p:cNvGrpSpPr/>
        <p:nvPr/>
      </p:nvGrpSpPr>
      <p:grpSpPr>
        <a:xfrm>
          <a:off x="0" y="0"/>
          <a:ext cx="0" cy="0"/>
          <a:chOff x="0" y="0"/>
          <a:chExt cx="0" cy="0"/>
        </a:xfrm>
      </p:grpSpPr>
      <p:sp>
        <p:nvSpPr>
          <p:cNvPr id="95" name="Google Shape;95;p20"/>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96" name="Google Shape;96;p20"/>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97" name="Google Shape;97;p20"/>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98" name="Google Shape;98;p20"/>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h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228600" y="136525"/>
            <a:ext cx="1504157" cy="581025"/>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01" name="Google Shape;101;p21"/>
          <p:cNvSpPr txBox="1">
            <a:spLocks noGrp="1"/>
          </p:cNvSpPr>
          <p:nvPr>
            <p:ph type="body" idx="1"/>
          </p:nvPr>
        </p:nvSpPr>
        <p:spPr>
          <a:xfrm>
            <a:off x="1787525" y="136525"/>
            <a:ext cx="2555875" cy="2926557"/>
          </a:xfrm>
          <a:prstGeom prst="rect">
            <a:avLst/>
          </a:prstGeom>
          <a:noFill/>
          <a:ln>
            <a:noFill/>
          </a:ln>
        </p:spPr>
        <p:txBody>
          <a:bodyPr spcFirstLastPara="1" wrap="square" lIns="45725" tIns="22850" rIns="45725" bIns="22850" anchor="t" anchorCtr="0">
            <a:normAutofit/>
          </a:bodyPr>
          <a:lstStyle>
            <a:lvl1pPr marL="457200" lvl="0" indent="-330200" algn="l">
              <a:spcBef>
                <a:spcPts val="300"/>
              </a:spcBef>
              <a:spcAft>
                <a:spcPts val="0"/>
              </a:spcAft>
              <a:buClr>
                <a:schemeClr val="dk1"/>
              </a:buClr>
              <a:buSzPts val="1600"/>
              <a:buChar char="•"/>
              <a:defRPr sz="1600"/>
            </a:lvl1pPr>
            <a:lvl2pPr marL="914400" lvl="1" indent="-317500" algn="l">
              <a:spcBef>
                <a:spcPts val="300"/>
              </a:spcBef>
              <a:spcAft>
                <a:spcPts val="0"/>
              </a:spcAft>
              <a:buClr>
                <a:schemeClr val="dk1"/>
              </a:buClr>
              <a:buSzPts val="1400"/>
              <a:buChar char="–"/>
              <a:defRPr sz="1400"/>
            </a:lvl2pPr>
            <a:lvl3pPr marL="1371600" lvl="2" indent="-304800" algn="l">
              <a:spcBef>
                <a:spcPts val="200"/>
              </a:spcBef>
              <a:spcAft>
                <a:spcPts val="0"/>
              </a:spcAft>
              <a:buClr>
                <a:schemeClr val="dk1"/>
              </a:buClr>
              <a:buSzPts val="1200"/>
              <a:buChar char="•"/>
              <a:defRPr sz="1200"/>
            </a:lvl3pPr>
            <a:lvl4pPr marL="1828800" lvl="3" indent="-292100" algn="l">
              <a:spcBef>
                <a:spcPts val="200"/>
              </a:spcBef>
              <a:spcAft>
                <a:spcPts val="0"/>
              </a:spcAft>
              <a:buClr>
                <a:schemeClr val="dk1"/>
              </a:buClr>
              <a:buSzPts val="1000"/>
              <a:buChar char="–"/>
              <a:defRPr sz="1000"/>
            </a:lvl4pPr>
            <a:lvl5pPr marL="2286000" lvl="4" indent="-292100" algn="l">
              <a:spcBef>
                <a:spcPts val="200"/>
              </a:spcBef>
              <a:spcAft>
                <a:spcPts val="0"/>
              </a:spcAft>
              <a:buClr>
                <a:schemeClr val="dk1"/>
              </a:buClr>
              <a:buSzPts val="1000"/>
              <a:buChar char="»"/>
              <a:defRPr sz="1000"/>
            </a:lvl5pPr>
            <a:lvl6pPr marL="2743200" lvl="5" indent="-292100" algn="l">
              <a:spcBef>
                <a:spcPts val="200"/>
              </a:spcBef>
              <a:spcAft>
                <a:spcPts val="0"/>
              </a:spcAft>
              <a:buClr>
                <a:schemeClr val="dk1"/>
              </a:buClr>
              <a:buSzPts val="1000"/>
              <a:buChar char="•"/>
              <a:defRPr sz="1000"/>
            </a:lvl6pPr>
            <a:lvl7pPr marL="3200400" lvl="6" indent="-292100" algn="l">
              <a:spcBef>
                <a:spcPts val="200"/>
              </a:spcBef>
              <a:spcAft>
                <a:spcPts val="0"/>
              </a:spcAft>
              <a:buClr>
                <a:schemeClr val="dk1"/>
              </a:buClr>
              <a:buSzPts val="1000"/>
              <a:buChar char="•"/>
              <a:defRPr sz="1000"/>
            </a:lvl7pPr>
            <a:lvl8pPr marL="3657600" lvl="7" indent="-292100" algn="l">
              <a:spcBef>
                <a:spcPts val="200"/>
              </a:spcBef>
              <a:spcAft>
                <a:spcPts val="0"/>
              </a:spcAft>
              <a:buClr>
                <a:schemeClr val="dk1"/>
              </a:buClr>
              <a:buSzPts val="1000"/>
              <a:buChar char="•"/>
              <a:defRPr sz="1000"/>
            </a:lvl8pPr>
            <a:lvl9pPr marL="4114800" lvl="8" indent="-292100" algn="l">
              <a:spcBef>
                <a:spcPts val="200"/>
              </a:spcBef>
              <a:spcAft>
                <a:spcPts val="0"/>
              </a:spcAft>
              <a:buClr>
                <a:schemeClr val="dk1"/>
              </a:buClr>
              <a:buSzPts val="1000"/>
              <a:buChar char="•"/>
              <a:defRPr sz="1000"/>
            </a:lvl9pPr>
          </a:lstStyle>
          <a:p>
            <a:endParaRPr/>
          </a:p>
        </p:txBody>
      </p:sp>
      <p:sp>
        <p:nvSpPr>
          <p:cNvPr id="102" name="Google Shape;102;p21"/>
          <p:cNvSpPr txBox="1">
            <a:spLocks noGrp="1"/>
          </p:cNvSpPr>
          <p:nvPr>
            <p:ph type="body" idx="2"/>
          </p:nvPr>
        </p:nvSpPr>
        <p:spPr>
          <a:xfrm>
            <a:off x="228600" y="717550"/>
            <a:ext cx="1504157" cy="2345532"/>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a:endParaRPr/>
          </a:p>
        </p:txBody>
      </p:sp>
      <p:sp>
        <p:nvSpPr>
          <p:cNvPr id="103" name="Google Shape;103;p21"/>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04" name="Google Shape;104;p21"/>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05" name="Google Shape;105;p21"/>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h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896144" y="2400300"/>
            <a:ext cx="2743200" cy="283369"/>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08" name="Google Shape;108;p22"/>
          <p:cNvSpPr>
            <a:spLocks noGrp="1"/>
          </p:cNvSpPr>
          <p:nvPr>
            <p:ph type="pic" idx="2"/>
          </p:nvPr>
        </p:nvSpPr>
        <p:spPr>
          <a:xfrm>
            <a:off x="896144" y="306388"/>
            <a:ext cx="2743200" cy="2057400"/>
          </a:xfrm>
          <a:prstGeom prst="rect">
            <a:avLst/>
          </a:prstGeom>
          <a:noFill/>
          <a:ln>
            <a:noFill/>
          </a:ln>
        </p:spPr>
      </p:sp>
      <p:sp>
        <p:nvSpPr>
          <p:cNvPr id="109" name="Google Shape;109;p22"/>
          <p:cNvSpPr txBox="1">
            <a:spLocks noGrp="1"/>
          </p:cNvSpPr>
          <p:nvPr>
            <p:ph type="body" idx="1"/>
          </p:nvPr>
        </p:nvSpPr>
        <p:spPr>
          <a:xfrm>
            <a:off x="896144" y="2683669"/>
            <a:ext cx="2743200" cy="402431"/>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a:endParaRPr/>
          </a:p>
        </p:txBody>
      </p:sp>
      <p:sp>
        <p:nvSpPr>
          <p:cNvPr id="110" name="Google Shape;110;p22"/>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11" name="Google Shape;111;p22"/>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12" name="Google Shape;112;p22"/>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h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15" name="Google Shape;115;p23"/>
          <p:cNvSpPr txBox="1">
            <a:spLocks noGrp="1"/>
          </p:cNvSpPr>
          <p:nvPr>
            <p:ph type="body" idx="1"/>
          </p:nvPr>
        </p:nvSpPr>
        <p:spPr>
          <a:xfrm rot="5400000">
            <a:off x="1154509" y="-125809"/>
            <a:ext cx="2262982" cy="41148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116" name="Google Shape;116;p23"/>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17" name="Google Shape;117;p23"/>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18" name="Google Shape;118;p23"/>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h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2366169" y="1085850"/>
            <a:ext cx="2925763" cy="10287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21" name="Google Shape;121;p24"/>
          <p:cNvSpPr txBox="1">
            <a:spLocks noGrp="1"/>
          </p:cNvSpPr>
          <p:nvPr>
            <p:ph type="body" idx="1"/>
          </p:nvPr>
        </p:nvSpPr>
        <p:spPr>
          <a:xfrm rot="5400000">
            <a:off x="270669" y="95250"/>
            <a:ext cx="2925763" cy="30099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122" name="Google Shape;122;p24"/>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23" name="Google Shape;123;p24"/>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24" name="Google Shape;124;p24"/>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h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h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marR="0" lvl="0" algn="ctr" rtl="0">
              <a:spcBef>
                <a:spcPts val="0"/>
              </a:spcBef>
              <a:spcAft>
                <a:spcPts val="0"/>
              </a:spcAft>
              <a:buClr>
                <a:schemeClr val="dk1"/>
              </a:buClr>
              <a:buSzPts val="2200"/>
              <a:buFont typeface="Calibri"/>
              <a:buNone/>
              <a:defRPr sz="2200" b="0" i="0" u="none" strike="noStrike" cap="non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a:endParaRPr/>
          </a:p>
        </p:txBody>
      </p:sp>
      <p:sp>
        <p:nvSpPr>
          <p:cNvPr id="52" name="Google Shape;52;p13"/>
          <p:cNvSpPr txBox="1">
            <a:spLocks noGrp="1"/>
          </p:cNvSpPr>
          <p:nvPr>
            <p:ph type="body" idx="1"/>
          </p:nvPr>
        </p:nvSpPr>
        <p:spPr>
          <a:xfrm>
            <a:off x="228600" y="800100"/>
            <a:ext cx="4114800" cy="2262982"/>
          </a:xfrm>
          <a:prstGeom prst="rect">
            <a:avLst/>
          </a:prstGeom>
          <a:noFill/>
          <a:ln>
            <a:noFill/>
          </a:ln>
        </p:spPr>
        <p:txBody>
          <a:bodyPr spcFirstLastPara="1" wrap="square" lIns="45725" tIns="22850" rIns="45725" bIns="22850" anchor="t" anchorCtr="0">
            <a:normAutofit/>
          </a:bodyPr>
          <a:lstStyle>
            <a:lvl1pPr marL="457200" marR="0" lvl="0" indent="-330200" algn="l" rtl="0">
              <a:spcBef>
                <a:spcPts val="3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1pPr>
            <a:lvl2pPr marL="914400" marR="0" lvl="1" indent="-317500" algn="l" rtl="0">
              <a:spcBef>
                <a:spcPts val="3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2pPr>
            <a:lvl3pPr marL="1371600" marR="0" lvl="2" indent="-304800" algn="l" rtl="0">
              <a:spcBef>
                <a:spcPts val="20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3pPr>
            <a:lvl4pPr marL="1828800" marR="0" lvl="3"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4pPr>
            <a:lvl5pPr marL="2286000" marR="0" lvl="4"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5pPr>
            <a:lvl6pPr marL="2743200" marR="0" lvl="5"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marR="0" lvl="0" algn="l" rtl="0">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marR="0" lvl="0" algn="ctr" rtl="0">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marR="0" lvl="0" indent="0" algn="r" rtl="0">
              <a:spcBef>
                <a:spcPts val="0"/>
              </a:spcBef>
              <a:buNone/>
              <a:defRPr sz="600" b="0" i="0" u="none" strike="noStrike" cap="none">
                <a:solidFill>
                  <a:srgbClr val="888888"/>
                </a:solidFill>
                <a:latin typeface="Calibri"/>
                <a:ea typeface="Calibri"/>
                <a:cs typeface="Calibri"/>
                <a:sym typeface="Calibri"/>
              </a:defRPr>
            </a:lvl1pPr>
            <a:lvl2pPr marL="0" marR="0" lvl="1" indent="0" algn="r" rtl="0">
              <a:spcBef>
                <a:spcPts val="0"/>
              </a:spcBef>
              <a:buNone/>
              <a:defRPr sz="600" b="0" i="0" u="none" strike="noStrike" cap="none">
                <a:solidFill>
                  <a:srgbClr val="888888"/>
                </a:solidFill>
                <a:latin typeface="Calibri"/>
                <a:ea typeface="Calibri"/>
                <a:cs typeface="Calibri"/>
                <a:sym typeface="Calibri"/>
              </a:defRPr>
            </a:lvl2pPr>
            <a:lvl3pPr marL="0" marR="0" lvl="2" indent="0" algn="r" rtl="0">
              <a:spcBef>
                <a:spcPts val="0"/>
              </a:spcBef>
              <a:buNone/>
              <a:defRPr sz="600" b="0" i="0" u="none" strike="noStrike" cap="none">
                <a:solidFill>
                  <a:srgbClr val="888888"/>
                </a:solidFill>
                <a:latin typeface="Calibri"/>
                <a:ea typeface="Calibri"/>
                <a:cs typeface="Calibri"/>
                <a:sym typeface="Calibri"/>
              </a:defRPr>
            </a:lvl3pPr>
            <a:lvl4pPr marL="0" marR="0" lvl="3" indent="0" algn="r" rtl="0">
              <a:spcBef>
                <a:spcPts val="0"/>
              </a:spcBef>
              <a:buNone/>
              <a:defRPr sz="600" b="0" i="0" u="none" strike="noStrike" cap="none">
                <a:solidFill>
                  <a:srgbClr val="888888"/>
                </a:solidFill>
                <a:latin typeface="Calibri"/>
                <a:ea typeface="Calibri"/>
                <a:cs typeface="Calibri"/>
                <a:sym typeface="Calibri"/>
              </a:defRPr>
            </a:lvl4pPr>
            <a:lvl5pPr marL="0" marR="0" lvl="4" indent="0" algn="r" rtl="0">
              <a:spcBef>
                <a:spcPts val="0"/>
              </a:spcBef>
              <a:buNone/>
              <a:defRPr sz="600" b="0" i="0" u="none" strike="noStrike" cap="none">
                <a:solidFill>
                  <a:srgbClr val="888888"/>
                </a:solidFill>
                <a:latin typeface="Calibri"/>
                <a:ea typeface="Calibri"/>
                <a:cs typeface="Calibri"/>
                <a:sym typeface="Calibri"/>
              </a:defRPr>
            </a:lvl5pPr>
            <a:lvl6pPr marL="0" marR="0" lvl="5" indent="0" algn="r" rtl="0">
              <a:spcBef>
                <a:spcPts val="0"/>
              </a:spcBef>
              <a:buNone/>
              <a:defRPr sz="600" b="0" i="0" u="none" strike="noStrike" cap="none">
                <a:solidFill>
                  <a:srgbClr val="888888"/>
                </a:solidFill>
                <a:latin typeface="Calibri"/>
                <a:ea typeface="Calibri"/>
                <a:cs typeface="Calibri"/>
                <a:sym typeface="Calibri"/>
              </a:defRPr>
            </a:lvl6pPr>
            <a:lvl7pPr marL="0" marR="0" lvl="6" indent="0" algn="r" rtl="0">
              <a:spcBef>
                <a:spcPts val="0"/>
              </a:spcBef>
              <a:buNone/>
              <a:defRPr sz="600" b="0" i="0" u="none" strike="noStrike" cap="none">
                <a:solidFill>
                  <a:srgbClr val="888888"/>
                </a:solidFill>
                <a:latin typeface="Calibri"/>
                <a:ea typeface="Calibri"/>
                <a:cs typeface="Calibri"/>
                <a:sym typeface="Calibri"/>
              </a:defRPr>
            </a:lvl7pPr>
            <a:lvl8pPr marL="0" marR="0" lvl="7" indent="0" algn="r" rtl="0">
              <a:spcBef>
                <a:spcPts val="0"/>
              </a:spcBef>
              <a:buNone/>
              <a:defRPr sz="600" b="0" i="0" u="none" strike="noStrike" cap="none">
                <a:solidFill>
                  <a:srgbClr val="888888"/>
                </a:solidFill>
                <a:latin typeface="Calibri"/>
                <a:ea typeface="Calibri"/>
                <a:cs typeface="Calibri"/>
                <a:sym typeface="Calibri"/>
              </a:defRPr>
            </a:lvl8pPr>
            <a:lvl9pPr marL="0" marR="0" lvl="8" indent="0" algn="r" rtl="0">
              <a:spcBef>
                <a:spcPts val="0"/>
              </a:spcBef>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hr"/>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5"/>
          <p:cNvSpPr/>
          <p:nvPr/>
        </p:nvSpPr>
        <p:spPr>
          <a:xfrm>
            <a:off x="0" y="0"/>
            <a:ext cx="10835640" cy="51435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219" b="-9219"/>
            </a:stretch>
          </a:blipFill>
          <a:ln>
            <a:noFill/>
          </a:ln>
        </p:spPr>
        <p:txBody>
          <a:bodyPr/>
          <a:lstStyle/>
          <a:p>
            <a:endParaRPr lang="hr-HR"/>
          </a:p>
        </p:txBody>
      </p:sp>
      <p:sp>
        <p:nvSpPr>
          <p:cNvPr id="130" name="Google Shape;130;p25"/>
          <p:cNvSpPr txBox="1"/>
          <p:nvPr/>
        </p:nvSpPr>
        <p:spPr>
          <a:xfrm>
            <a:off x="1969356" y="1422466"/>
            <a:ext cx="5126700" cy="1889400"/>
          </a:xfrm>
          <a:prstGeom prst="rect">
            <a:avLst/>
          </a:prstGeom>
          <a:noFill/>
          <a:ln>
            <a:noFill/>
          </a:ln>
        </p:spPr>
        <p:txBody>
          <a:bodyPr spcFirstLastPara="1" wrap="square" lIns="0" tIns="0" rIns="0" bIns="0" anchor="t" anchorCtr="0">
            <a:spAutoFit/>
          </a:bodyPr>
          <a:lstStyle/>
          <a:p>
            <a:pPr marL="0" marR="0" lvl="1" indent="0" algn="ctr" rtl="0">
              <a:lnSpc>
                <a:spcPct val="92997"/>
              </a:lnSpc>
              <a:spcBef>
                <a:spcPts val="0"/>
              </a:spcBef>
              <a:spcAft>
                <a:spcPts val="0"/>
              </a:spcAft>
              <a:buNone/>
            </a:pPr>
            <a:r>
              <a:rPr lang="hr" sz="4400">
                <a:solidFill>
                  <a:srgbClr val="45384A"/>
                </a:solidFill>
              </a:rPr>
              <a:t>Tumor recognition from human brain MRI images </a:t>
            </a:r>
            <a:endParaRPr sz="4400">
              <a:solidFill>
                <a:srgbClr val="45384A"/>
              </a:solidFill>
            </a:endParaRPr>
          </a:p>
        </p:txBody>
      </p:sp>
      <p:sp>
        <p:nvSpPr>
          <p:cNvPr id="131" name="Google Shape;131;p25"/>
          <p:cNvSpPr txBox="1"/>
          <p:nvPr/>
        </p:nvSpPr>
        <p:spPr>
          <a:xfrm>
            <a:off x="2193119" y="3878139"/>
            <a:ext cx="4816200" cy="283604"/>
          </a:xfrm>
          <a:prstGeom prst="rect">
            <a:avLst/>
          </a:prstGeom>
          <a:noFill/>
          <a:ln>
            <a:noFill/>
          </a:ln>
        </p:spPr>
        <p:txBody>
          <a:bodyPr spcFirstLastPara="1" wrap="square" lIns="0" tIns="0" rIns="0" bIns="0" anchor="t" anchorCtr="0">
            <a:spAutoFit/>
          </a:bodyPr>
          <a:lstStyle/>
          <a:p>
            <a:pPr marL="0" lvl="1" indent="0" algn="ctr" rtl="0">
              <a:lnSpc>
                <a:spcPct val="96999"/>
              </a:lnSpc>
              <a:spcBef>
                <a:spcPts val="0"/>
              </a:spcBef>
              <a:spcAft>
                <a:spcPts val="0"/>
              </a:spcAft>
              <a:buNone/>
            </a:pPr>
            <a:r>
              <a:rPr lang="hr-HR" sz="1900">
                <a:solidFill>
                  <a:schemeClr val="dk1"/>
                </a:solidFill>
              </a:rPr>
              <a:t>Pajo Patak and friends</a:t>
            </a:r>
            <a:endParaRPr sz="1900" dirty="0"/>
          </a:p>
        </p:txBody>
      </p:sp>
      <p:sp>
        <p:nvSpPr>
          <p:cNvPr id="132" name="Google Shape;132;p25"/>
          <p:cNvSpPr/>
          <p:nvPr/>
        </p:nvSpPr>
        <p:spPr>
          <a:xfrm rot="-235649">
            <a:off x="417241" y="274944"/>
            <a:ext cx="1667802" cy="2171852"/>
          </a:xfrm>
          <a:custGeom>
            <a:avLst/>
            <a:gdLst/>
            <a:ahLst/>
            <a:cxnLst/>
            <a:rect l="l" t="t" r="r" b="b"/>
            <a:pathLst>
              <a:path w="3335603" h="4343704" extrusionOk="0">
                <a:moveTo>
                  <a:pt x="0" y="0"/>
                </a:moveTo>
                <a:lnTo>
                  <a:pt x="3335604" y="0"/>
                </a:lnTo>
                <a:lnTo>
                  <a:pt x="3335604" y="4343704"/>
                </a:lnTo>
                <a:lnTo>
                  <a:pt x="0" y="4343704"/>
                </a:lnTo>
                <a:lnTo>
                  <a:pt x="0" y="0"/>
                </a:lnTo>
                <a:close/>
              </a:path>
            </a:pathLst>
          </a:custGeom>
          <a:blipFill rotWithShape="1">
            <a:blip r:embed="rId4">
              <a:alphaModFix/>
            </a:blip>
            <a:stretch>
              <a:fillRect/>
            </a:stretch>
          </a:blipFill>
          <a:ln>
            <a:noFill/>
          </a:ln>
        </p:spPr>
        <p:txBody>
          <a:bodyPr/>
          <a:lstStyle/>
          <a:p>
            <a:endParaRPr lang="hr-HR"/>
          </a:p>
        </p:txBody>
      </p:sp>
      <p:sp>
        <p:nvSpPr>
          <p:cNvPr id="133" name="Google Shape;133;p25"/>
          <p:cNvSpPr/>
          <p:nvPr/>
        </p:nvSpPr>
        <p:spPr>
          <a:xfrm rot="991954">
            <a:off x="403898" y="2987927"/>
            <a:ext cx="1540274" cy="1767890"/>
          </a:xfrm>
          <a:custGeom>
            <a:avLst/>
            <a:gdLst/>
            <a:ahLst/>
            <a:cxnLst/>
            <a:rect l="l" t="t" r="r" b="b"/>
            <a:pathLst>
              <a:path w="3080548" h="3535780" extrusionOk="0">
                <a:moveTo>
                  <a:pt x="0" y="0"/>
                </a:moveTo>
                <a:lnTo>
                  <a:pt x="3080548" y="0"/>
                </a:lnTo>
                <a:lnTo>
                  <a:pt x="3080548" y="3535779"/>
                </a:lnTo>
                <a:lnTo>
                  <a:pt x="0" y="3535779"/>
                </a:lnTo>
                <a:lnTo>
                  <a:pt x="0" y="0"/>
                </a:lnTo>
                <a:close/>
              </a:path>
            </a:pathLst>
          </a:custGeom>
          <a:blipFill rotWithShape="1">
            <a:blip r:embed="rId5">
              <a:alphaModFix/>
            </a:blip>
            <a:stretch>
              <a:fillRect l="-810" r="-811"/>
            </a:stretch>
          </a:blipFill>
          <a:ln>
            <a:noFill/>
          </a:ln>
        </p:spPr>
        <p:txBody>
          <a:bodyPr/>
          <a:lstStyle/>
          <a:p>
            <a:endParaRPr lang="hr-HR"/>
          </a:p>
        </p:txBody>
      </p:sp>
      <p:sp>
        <p:nvSpPr>
          <p:cNvPr id="134" name="Google Shape;134;p25"/>
          <p:cNvSpPr/>
          <p:nvPr/>
        </p:nvSpPr>
        <p:spPr>
          <a:xfrm rot="-1032078">
            <a:off x="7046245" y="424229"/>
            <a:ext cx="1661367" cy="1869330"/>
          </a:xfrm>
          <a:custGeom>
            <a:avLst/>
            <a:gdLst/>
            <a:ahLst/>
            <a:cxnLst/>
            <a:rect l="l" t="t" r="r" b="b"/>
            <a:pathLst>
              <a:path w="3322734" h="3738660" extrusionOk="0">
                <a:moveTo>
                  <a:pt x="0" y="0"/>
                </a:moveTo>
                <a:lnTo>
                  <a:pt x="3322734" y="0"/>
                </a:lnTo>
                <a:lnTo>
                  <a:pt x="3322734" y="3738660"/>
                </a:lnTo>
                <a:lnTo>
                  <a:pt x="0" y="3738660"/>
                </a:lnTo>
                <a:lnTo>
                  <a:pt x="0" y="0"/>
                </a:lnTo>
                <a:close/>
              </a:path>
            </a:pathLst>
          </a:custGeom>
          <a:blipFill rotWithShape="1">
            <a:blip r:embed="rId6">
              <a:alphaModFix/>
            </a:blip>
            <a:stretch>
              <a:fillRect/>
            </a:stretch>
          </a:blipFill>
          <a:ln>
            <a:noFill/>
          </a:ln>
        </p:spPr>
        <p:txBody>
          <a:bodyPr/>
          <a:lstStyle/>
          <a:p>
            <a:endParaRPr lang="hr-HR"/>
          </a:p>
        </p:txBody>
      </p:sp>
      <p:sp>
        <p:nvSpPr>
          <p:cNvPr id="135" name="Google Shape;135;p25"/>
          <p:cNvSpPr/>
          <p:nvPr/>
        </p:nvSpPr>
        <p:spPr>
          <a:xfrm rot="566178">
            <a:off x="7211377" y="2594335"/>
            <a:ext cx="1365626" cy="2220529"/>
          </a:xfrm>
          <a:custGeom>
            <a:avLst/>
            <a:gdLst/>
            <a:ahLst/>
            <a:cxnLst/>
            <a:rect l="l" t="t" r="r" b="b"/>
            <a:pathLst>
              <a:path w="2731251" h="4441058" extrusionOk="0">
                <a:moveTo>
                  <a:pt x="0" y="0"/>
                </a:moveTo>
                <a:lnTo>
                  <a:pt x="2731251" y="0"/>
                </a:lnTo>
                <a:lnTo>
                  <a:pt x="2731251" y="4441058"/>
                </a:lnTo>
                <a:lnTo>
                  <a:pt x="0" y="4441058"/>
                </a:lnTo>
                <a:lnTo>
                  <a:pt x="0" y="0"/>
                </a:lnTo>
                <a:close/>
              </a:path>
            </a:pathLst>
          </a:custGeom>
          <a:blipFill rotWithShape="1">
            <a:blip r:embed="rId7">
              <a:alphaModFix/>
            </a:blip>
            <a:stretch>
              <a:fillRect/>
            </a:stretch>
          </a:blipFill>
          <a:ln>
            <a:noFill/>
          </a:ln>
        </p:spPr>
        <p:txBody>
          <a:bodyPr/>
          <a:lstStyle/>
          <a:p>
            <a:endParaRPr lang="hr-HR"/>
          </a:p>
        </p:txBody>
      </p:sp>
      <p:sp>
        <p:nvSpPr>
          <p:cNvPr id="136" name="Google Shape;136;p25"/>
          <p:cNvSpPr txBox="1"/>
          <p:nvPr/>
        </p:nvSpPr>
        <p:spPr>
          <a:xfrm>
            <a:off x="2345519" y="4659189"/>
            <a:ext cx="4816200" cy="283800"/>
          </a:xfrm>
          <a:prstGeom prst="rect">
            <a:avLst/>
          </a:prstGeom>
          <a:noFill/>
          <a:ln>
            <a:noFill/>
          </a:ln>
        </p:spPr>
        <p:txBody>
          <a:bodyPr spcFirstLastPara="1" wrap="square" lIns="0" tIns="0" rIns="0" bIns="0" anchor="t" anchorCtr="0">
            <a:spAutoFit/>
          </a:bodyPr>
          <a:lstStyle/>
          <a:p>
            <a:pPr marL="0" lvl="1" indent="0" algn="ctr" rtl="0">
              <a:lnSpc>
                <a:spcPct val="96999"/>
              </a:lnSpc>
              <a:spcBef>
                <a:spcPts val="0"/>
              </a:spcBef>
              <a:spcAft>
                <a:spcPts val="0"/>
              </a:spcAft>
              <a:buNone/>
            </a:pPr>
            <a:r>
              <a:rPr lang="hr" sz="1900">
                <a:solidFill>
                  <a:schemeClr val="dk1"/>
                </a:solidFill>
              </a:rPr>
              <a:t>January 2025., Zagreb</a:t>
            </a:r>
            <a:endParaRPr sz="1900"/>
          </a:p>
        </p:txBody>
      </p:sp>
      <p:sp>
        <p:nvSpPr>
          <p:cNvPr id="137" name="Google Shape;137;p25"/>
          <p:cNvSpPr txBox="1"/>
          <p:nvPr/>
        </p:nvSpPr>
        <p:spPr>
          <a:xfrm>
            <a:off x="1735627" y="115845"/>
            <a:ext cx="6036000" cy="851100"/>
          </a:xfrm>
          <a:prstGeom prst="rect">
            <a:avLst/>
          </a:prstGeom>
          <a:noFill/>
          <a:ln>
            <a:noFill/>
          </a:ln>
        </p:spPr>
        <p:txBody>
          <a:bodyPr spcFirstLastPara="1" wrap="square" lIns="0" tIns="0" rIns="0" bIns="0" anchor="t" anchorCtr="0">
            <a:spAutoFit/>
          </a:bodyPr>
          <a:lstStyle/>
          <a:p>
            <a:pPr marL="0" lvl="1" indent="0" algn="ctr" rtl="0">
              <a:lnSpc>
                <a:spcPct val="96999"/>
              </a:lnSpc>
              <a:spcBef>
                <a:spcPts val="0"/>
              </a:spcBef>
              <a:spcAft>
                <a:spcPts val="0"/>
              </a:spcAft>
              <a:buNone/>
            </a:pPr>
            <a:r>
              <a:rPr lang="hr" sz="1900">
                <a:solidFill>
                  <a:schemeClr val="dk1"/>
                </a:solidFill>
              </a:rPr>
              <a:t>Faculty of Electrical Engineering and Computing</a:t>
            </a:r>
            <a:endParaRPr sz="1900">
              <a:solidFill>
                <a:schemeClr val="dk1"/>
              </a:solidFill>
            </a:endParaRPr>
          </a:p>
          <a:p>
            <a:pPr marL="0" lvl="1" indent="0" algn="ctr" rtl="0">
              <a:lnSpc>
                <a:spcPct val="96999"/>
              </a:lnSpc>
              <a:spcBef>
                <a:spcPts val="0"/>
              </a:spcBef>
              <a:spcAft>
                <a:spcPts val="0"/>
              </a:spcAft>
              <a:buNone/>
            </a:pPr>
            <a:r>
              <a:rPr lang="hr" sz="1900">
                <a:solidFill>
                  <a:schemeClr val="dk1"/>
                </a:solidFill>
              </a:rPr>
              <a:t>University in Zagreb</a:t>
            </a:r>
            <a:endParaRPr sz="1900">
              <a:solidFill>
                <a:schemeClr val="dk1"/>
              </a:solidFill>
            </a:endParaRPr>
          </a:p>
          <a:p>
            <a:pPr marL="0" lvl="1" indent="0" algn="ctr" rtl="0">
              <a:lnSpc>
                <a:spcPct val="96999"/>
              </a:lnSpc>
              <a:spcBef>
                <a:spcPts val="0"/>
              </a:spcBef>
              <a:spcAft>
                <a:spcPts val="0"/>
              </a:spcAft>
              <a:buNone/>
            </a:pPr>
            <a:r>
              <a:rPr lang="hr" sz="1900">
                <a:solidFill>
                  <a:schemeClr val="dk1"/>
                </a:solidFill>
              </a:rPr>
              <a:t>Neural Networks</a:t>
            </a:r>
            <a:endParaRPr sz="19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6"/>
          <p:cNvSpPr/>
          <p:nvPr/>
        </p:nvSpPr>
        <p:spPr>
          <a:xfrm>
            <a:off x="0" y="0"/>
            <a:ext cx="10835640" cy="51435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219" b="-9219"/>
            </a:stretch>
          </a:blipFill>
          <a:ln>
            <a:noFill/>
          </a:ln>
        </p:spPr>
        <p:txBody>
          <a:bodyPr/>
          <a:lstStyle/>
          <a:p>
            <a:endParaRPr lang="hr-HR"/>
          </a:p>
        </p:txBody>
      </p:sp>
      <p:sp>
        <p:nvSpPr>
          <p:cNvPr id="143" name="Google Shape;143;p26"/>
          <p:cNvSpPr txBox="1"/>
          <p:nvPr/>
        </p:nvSpPr>
        <p:spPr>
          <a:xfrm>
            <a:off x="841918" y="693958"/>
            <a:ext cx="4683900" cy="715800"/>
          </a:xfrm>
          <a:prstGeom prst="rect">
            <a:avLst/>
          </a:prstGeom>
          <a:noFill/>
          <a:ln>
            <a:noFill/>
          </a:ln>
        </p:spPr>
        <p:txBody>
          <a:bodyPr spcFirstLastPara="1" wrap="square" lIns="0" tIns="0" rIns="0" bIns="0" anchor="t" anchorCtr="0">
            <a:spAutoFit/>
          </a:bodyPr>
          <a:lstStyle/>
          <a:p>
            <a:pPr marL="0" marR="0" lvl="1" indent="0" algn="just" rtl="0">
              <a:lnSpc>
                <a:spcPct val="93000"/>
              </a:lnSpc>
              <a:spcBef>
                <a:spcPts val="0"/>
              </a:spcBef>
              <a:spcAft>
                <a:spcPts val="0"/>
              </a:spcAft>
              <a:buNone/>
            </a:pPr>
            <a:r>
              <a:rPr lang="hr" sz="5000">
                <a:solidFill>
                  <a:srgbClr val="45384A"/>
                </a:solidFill>
                <a:latin typeface="Shadows Into Light"/>
                <a:ea typeface="Shadows Into Light"/>
                <a:cs typeface="Shadows Into Light"/>
                <a:sym typeface="Shadows Into Light"/>
              </a:rPr>
              <a:t>CONTENTS</a:t>
            </a:r>
            <a:endParaRPr sz="700"/>
          </a:p>
        </p:txBody>
      </p:sp>
      <p:sp>
        <p:nvSpPr>
          <p:cNvPr id="144" name="Google Shape;144;p26"/>
          <p:cNvSpPr txBox="1"/>
          <p:nvPr/>
        </p:nvSpPr>
        <p:spPr>
          <a:xfrm>
            <a:off x="1147532" y="2512201"/>
            <a:ext cx="2146800" cy="386400"/>
          </a:xfrm>
          <a:prstGeom prst="rect">
            <a:avLst/>
          </a:prstGeom>
          <a:noFill/>
          <a:ln>
            <a:noFill/>
          </a:ln>
        </p:spPr>
        <p:txBody>
          <a:bodyPr spcFirstLastPara="1" wrap="square" lIns="0" tIns="0" rIns="0" bIns="0" anchor="t" anchorCtr="0">
            <a:spAutoFit/>
          </a:bodyPr>
          <a:lstStyle/>
          <a:p>
            <a:pPr marL="0" marR="0" lvl="1" indent="0" algn="just" rtl="0">
              <a:lnSpc>
                <a:spcPct val="93006"/>
              </a:lnSpc>
              <a:spcBef>
                <a:spcPts val="0"/>
              </a:spcBef>
              <a:spcAft>
                <a:spcPts val="0"/>
              </a:spcAft>
              <a:buNone/>
            </a:pPr>
            <a:r>
              <a:rPr lang="hr" sz="2700" b="0" i="0" u="none" strike="noStrike" cap="none">
                <a:solidFill>
                  <a:srgbClr val="45384A"/>
                </a:solidFill>
                <a:latin typeface="Arial"/>
                <a:ea typeface="Arial"/>
                <a:cs typeface="Arial"/>
                <a:sym typeface="Arial"/>
              </a:rPr>
              <a:t>Introduction</a:t>
            </a:r>
            <a:endParaRPr sz="700"/>
          </a:p>
        </p:txBody>
      </p:sp>
      <p:sp>
        <p:nvSpPr>
          <p:cNvPr id="145" name="Google Shape;145;p26"/>
          <p:cNvSpPr txBox="1"/>
          <p:nvPr/>
        </p:nvSpPr>
        <p:spPr>
          <a:xfrm>
            <a:off x="1160466" y="3239307"/>
            <a:ext cx="2146800" cy="386400"/>
          </a:xfrm>
          <a:prstGeom prst="rect">
            <a:avLst/>
          </a:prstGeom>
          <a:noFill/>
          <a:ln>
            <a:noFill/>
          </a:ln>
        </p:spPr>
        <p:txBody>
          <a:bodyPr spcFirstLastPara="1" wrap="square" lIns="0" tIns="0" rIns="0" bIns="0" anchor="t" anchorCtr="0">
            <a:spAutoFit/>
          </a:bodyPr>
          <a:lstStyle/>
          <a:p>
            <a:pPr marL="0" marR="0" lvl="1" indent="0" algn="just" rtl="0">
              <a:lnSpc>
                <a:spcPct val="93006"/>
              </a:lnSpc>
              <a:spcBef>
                <a:spcPts val="0"/>
              </a:spcBef>
              <a:spcAft>
                <a:spcPts val="0"/>
              </a:spcAft>
              <a:buNone/>
            </a:pPr>
            <a:r>
              <a:rPr lang="hr" sz="2700">
                <a:solidFill>
                  <a:srgbClr val="45384A"/>
                </a:solidFill>
              </a:rPr>
              <a:t>Data</a:t>
            </a:r>
            <a:endParaRPr sz="700"/>
          </a:p>
        </p:txBody>
      </p:sp>
      <p:sp>
        <p:nvSpPr>
          <p:cNvPr id="146" name="Google Shape;146;p26"/>
          <p:cNvSpPr txBox="1"/>
          <p:nvPr/>
        </p:nvSpPr>
        <p:spPr>
          <a:xfrm>
            <a:off x="6706657" y="2272623"/>
            <a:ext cx="2146800" cy="386400"/>
          </a:xfrm>
          <a:prstGeom prst="rect">
            <a:avLst/>
          </a:prstGeom>
          <a:noFill/>
          <a:ln>
            <a:noFill/>
          </a:ln>
        </p:spPr>
        <p:txBody>
          <a:bodyPr spcFirstLastPara="1" wrap="square" lIns="0" tIns="0" rIns="0" bIns="0" anchor="t" anchorCtr="0">
            <a:spAutoFit/>
          </a:bodyPr>
          <a:lstStyle/>
          <a:p>
            <a:pPr marL="0" marR="0" lvl="1" indent="0" algn="just" rtl="0">
              <a:lnSpc>
                <a:spcPct val="93006"/>
              </a:lnSpc>
              <a:spcBef>
                <a:spcPts val="0"/>
              </a:spcBef>
              <a:spcAft>
                <a:spcPts val="0"/>
              </a:spcAft>
              <a:buNone/>
            </a:pPr>
            <a:r>
              <a:rPr lang="hr" sz="2700">
                <a:solidFill>
                  <a:srgbClr val="45384A"/>
                </a:solidFill>
              </a:rPr>
              <a:t>Our solutions</a:t>
            </a:r>
            <a:endParaRPr sz="700"/>
          </a:p>
        </p:txBody>
      </p:sp>
      <p:sp>
        <p:nvSpPr>
          <p:cNvPr id="147" name="Google Shape;147;p26"/>
          <p:cNvSpPr txBox="1"/>
          <p:nvPr/>
        </p:nvSpPr>
        <p:spPr>
          <a:xfrm>
            <a:off x="6770797" y="2970078"/>
            <a:ext cx="2198700" cy="386400"/>
          </a:xfrm>
          <a:prstGeom prst="rect">
            <a:avLst/>
          </a:prstGeom>
          <a:noFill/>
          <a:ln>
            <a:noFill/>
          </a:ln>
        </p:spPr>
        <p:txBody>
          <a:bodyPr spcFirstLastPara="1" wrap="square" lIns="0" tIns="0" rIns="0" bIns="0" anchor="t" anchorCtr="0">
            <a:spAutoFit/>
          </a:bodyPr>
          <a:lstStyle/>
          <a:p>
            <a:pPr marL="0" marR="0" lvl="1" indent="0" algn="just" rtl="0">
              <a:lnSpc>
                <a:spcPct val="93006"/>
              </a:lnSpc>
              <a:spcBef>
                <a:spcPts val="0"/>
              </a:spcBef>
              <a:spcAft>
                <a:spcPts val="0"/>
              </a:spcAft>
              <a:buNone/>
            </a:pPr>
            <a:r>
              <a:rPr lang="hr" sz="2700">
                <a:solidFill>
                  <a:srgbClr val="45384A"/>
                </a:solidFill>
              </a:rPr>
              <a:t>Results</a:t>
            </a:r>
            <a:endParaRPr sz="700"/>
          </a:p>
        </p:txBody>
      </p:sp>
      <p:sp>
        <p:nvSpPr>
          <p:cNvPr id="148" name="Google Shape;148;p26"/>
          <p:cNvSpPr txBox="1"/>
          <p:nvPr/>
        </p:nvSpPr>
        <p:spPr>
          <a:xfrm>
            <a:off x="6680692" y="3592221"/>
            <a:ext cx="2198700" cy="386400"/>
          </a:xfrm>
          <a:prstGeom prst="rect">
            <a:avLst/>
          </a:prstGeom>
          <a:noFill/>
          <a:ln>
            <a:noFill/>
          </a:ln>
        </p:spPr>
        <p:txBody>
          <a:bodyPr spcFirstLastPara="1" wrap="square" lIns="0" tIns="0" rIns="0" bIns="0" anchor="t" anchorCtr="0">
            <a:spAutoFit/>
          </a:bodyPr>
          <a:lstStyle/>
          <a:p>
            <a:pPr marL="0" marR="0" lvl="1" indent="0" algn="just" rtl="0">
              <a:lnSpc>
                <a:spcPct val="93006"/>
              </a:lnSpc>
              <a:spcBef>
                <a:spcPts val="0"/>
              </a:spcBef>
              <a:spcAft>
                <a:spcPts val="0"/>
              </a:spcAft>
              <a:buNone/>
            </a:pPr>
            <a:r>
              <a:rPr lang="hr" sz="2700">
                <a:solidFill>
                  <a:srgbClr val="45384A"/>
                </a:solidFill>
              </a:rPr>
              <a:t>Conclusion</a:t>
            </a:r>
            <a:endParaRPr sz="700"/>
          </a:p>
        </p:txBody>
      </p:sp>
      <p:sp>
        <p:nvSpPr>
          <p:cNvPr id="149" name="Google Shape;149;p26"/>
          <p:cNvSpPr txBox="1"/>
          <p:nvPr/>
        </p:nvSpPr>
        <p:spPr>
          <a:xfrm>
            <a:off x="554143" y="2322242"/>
            <a:ext cx="481800" cy="615600"/>
          </a:xfrm>
          <a:prstGeom prst="rect">
            <a:avLst/>
          </a:prstGeom>
          <a:noFill/>
          <a:ln>
            <a:noFill/>
          </a:ln>
        </p:spPr>
        <p:txBody>
          <a:bodyPr spcFirstLastPara="1" wrap="square" lIns="0" tIns="0" rIns="0" bIns="0" anchor="t" anchorCtr="0">
            <a:spAutoFit/>
          </a:bodyPr>
          <a:lstStyle/>
          <a:p>
            <a:pPr marL="0" marR="0" lvl="1" indent="0" algn="ctr" rtl="0">
              <a:lnSpc>
                <a:spcPct val="93005"/>
              </a:lnSpc>
              <a:spcBef>
                <a:spcPts val="0"/>
              </a:spcBef>
              <a:spcAft>
                <a:spcPts val="0"/>
              </a:spcAft>
              <a:buNone/>
            </a:pPr>
            <a:r>
              <a:rPr lang="hr" sz="4300" b="0" i="0" u="none" strike="noStrike" cap="none">
                <a:solidFill>
                  <a:srgbClr val="45384A"/>
                </a:solidFill>
                <a:latin typeface="Shadows Into Light"/>
                <a:ea typeface="Shadows Into Light"/>
                <a:cs typeface="Shadows Into Light"/>
                <a:sym typeface="Shadows Into Light"/>
              </a:rPr>
              <a:t>1.</a:t>
            </a:r>
            <a:endParaRPr sz="700"/>
          </a:p>
        </p:txBody>
      </p:sp>
      <p:sp>
        <p:nvSpPr>
          <p:cNvPr id="150" name="Google Shape;150;p26"/>
          <p:cNvSpPr txBox="1"/>
          <p:nvPr/>
        </p:nvSpPr>
        <p:spPr>
          <a:xfrm>
            <a:off x="579886" y="3085513"/>
            <a:ext cx="481800" cy="615600"/>
          </a:xfrm>
          <a:prstGeom prst="rect">
            <a:avLst/>
          </a:prstGeom>
          <a:noFill/>
          <a:ln>
            <a:noFill/>
          </a:ln>
        </p:spPr>
        <p:txBody>
          <a:bodyPr spcFirstLastPara="1" wrap="square" lIns="0" tIns="0" rIns="0" bIns="0" anchor="t" anchorCtr="0">
            <a:spAutoFit/>
          </a:bodyPr>
          <a:lstStyle/>
          <a:p>
            <a:pPr marL="0" marR="0" lvl="1" indent="0" algn="ctr" rtl="0">
              <a:lnSpc>
                <a:spcPct val="93005"/>
              </a:lnSpc>
              <a:spcBef>
                <a:spcPts val="0"/>
              </a:spcBef>
              <a:spcAft>
                <a:spcPts val="0"/>
              </a:spcAft>
              <a:buNone/>
            </a:pPr>
            <a:r>
              <a:rPr lang="hr" sz="4300" b="0" i="0" u="none" strike="noStrike" cap="none">
                <a:solidFill>
                  <a:srgbClr val="45384A"/>
                </a:solidFill>
                <a:latin typeface="Shadows Into Light"/>
                <a:ea typeface="Shadows Into Light"/>
                <a:cs typeface="Shadows Into Light"/>
                <a:sym typeface="Shadows Into Light"/>
              </a:rPr>
              <a:t>2.</a:t>
            </a:r>
            <a:endParaRPr sz="700"/>
          </a:p>
        </p:txBody>
      </p:sp>
      <p:sp>
        <p:nvSpPr>
          <p:cNvPr id="151" name="Google Shape;151;p26"/>
          <p:cNvSpPr txBox="1"/>
          <p:nvPr/>
        </p:nvSpPr>
        <p:spPr>
          <a:xfrm>
            <a:off x="841918" y="2985321"/>
            <a:ext cx="481800" cy="100200"/>
          </a:xfrm>
          <a:prstGeom prst="rect">
            <a:avLst/>
          </a:prstGeom>
          <a:noFill/>
          <a:ln>
            <a:noFill/>
          </a:ln>
        </p:spPr>
        <p:txBody>
          <a:bodyPr spcFirstLastPara="1" wrap="square" lIns="0" tIns="0" rIns="0" bIns="0" anchor="t" anchorCtr="0">
            <a:spAutoFit/>
          </a:bodyPr>
          <a:lstStyle/>
          <a:p>
            <a:pPr marL="0" marR="0" lvl="1" indent="0" algn="l" rtl="0">
              <a:lnSpc>
                <a:spcPct val="93005"/>
              </a:lnSpc>
              <a:spcBef>
                <a:spcPts val="0"/>
              </a:spcBef>
              <a:spcAft>
                <a:spcPts val="0"/>
              </a:spcAft>
              <a:buNone/>
            </a:pPr>
            <a:endParaRPr sz="700"/>
          </a:p>
        </p:txBody>
      </p:sp>
      <p:sp>
        <p:nvSpPr>
          <p:cNvPr id="152" name="Google Shape;152;p26"/>
          <p:cNvSpPr txBox="1"/>
          <p:nvPr/>
        </p:nvSpPr>
        <p:spPr>
          <a:xfrm>
            <a:off x="6157418" y="2158008"/>
            <a:ext cx="481800" cy="615600"/>
          </a:xfrm>
          <a:prstGeom prst="rect">
            <a:avLst/>
          </a:prstGeom>
          <a:noFill/>
          <a:ln>
            <a:noFill/>
          </a:ln>
        </p:spPr>
        <p:txBody>
          <a:bodyPr spcFirstLastPara="1" wrap="square" lIns="0" tIns="0" rIns="0" bIns="0" anchor="t" anchorCtr="0">
            <a:spAutoFit/>
          </a:bodyPr>
          <a:lstStyle/>
          <a:p>
            <a:pPr marL="0" marR="0" lvl="1" indent="0" algn="ctr" rtl="0">
              <a:lnSpc>
                <a:spcPct val="93005"/>
              </a:lnSpc>
              <a:spcBef>
                <a:spcPts val="0"/>
              </a:spcBef>
              <a:spcAft>
                <a:spcPts val="0"/>
              </a:spcAft>
              <a:buNone/>
            </a:pPr>
            <a:r>
              <a:rPr lang="hr" sz="4300">
                <a:solidFill>
                  <a:srgbClr val="45384A"/>
                </a:solidFill>
                <a:latin typeface="Shadows Into Light"/>
                <a:ea typeface="Shadows Into Light"/>
                <a:cs typeface="Shadows Into Light"/>
                <a:sym typeface="Shadows Into Light"/>
              </a:rPr>
              <a:t>3</a:t>
            </a:r>
            <a:r>
              <a:rPr lang="hr" sz="4300" b="0" i="0" u="none" strike="noStrike" cap="none">
                <a:solidFill>
                  <a:srgbClr val="45384A"/>
                </a:solidFill>
                <a:latin typeface="Shadows Into Light"/>
                <a:ea typeface="Shadows Into Light"/>
                <a:cs typeface="Shadows Into Light"/>
                <a:sym typeface="Shadows Into Light"/>
              </a:rPr>
              <a:t>.</a:t>
            </a:r>
            <a:endParaRPr sz="700"/>
          </a:p>
        </p:txBody>
      </p:sp>
      <p:sp>
        <p:nvSpPr>
          <p:cNvPr id="153" name="Google Shape;153;p26"/>
          <p:cNvSpPr txBox="1"/>
          <p:nvPr/>
        </p:nvSpPr>
        <p:spPr>
          <a:xfrm>
            <a:off x="6157432" y="2814540"/>
            <a:ext cx="481800" cy="615600"/>
          </a:xfrm>
          <a:prstGeom prst="rect">
            <a:avLst/>
          </a:prstGeom>
          <a:noFill/>
          <a:ln>
            <a:noFill/>
          </a:ln>
        </p:spPr>
        <p:txBody>
          <a:bodyPr spcFirstLastPara="1" wrap="square" lIns="0" tIns="0" rIns="0" bIns="0" anchor="t" anchorCtr="0">
            <a:spAutoFit/>
          </a:bodyPr>
          <a:lstStyle/>
          <a:p>
            <a:pPr marL="0" marR="0" lvl="1" indent="0" algn="ctr" rtl="0">
              <a:lnSpc>
                <a:spcPct val="93005"/>
              </a:lnSpc>
              <a:spcBef>
                <a:spcPts val="0"/>
              </a:spcBef>
              <a:spcAft>
                <a:spcPts val="0"/>
              </a:spcAft>
              <a:buNone/>
            </a:pPr>
            <a:r>
              <a:rPr lang="hr" sz="4300">
                <a:solidFill>
                  <a:srgbClr val="45384A"/>
                </a:solidFill>
                <a:latin typeface="Shadows Into Light"/>
                <a:ea typeface="Shadows Into Light"/>
                <a:cs typeface="Shadows Into Light"/>
                <a:sym typeface="Shadows Into Light"/>
              </a:rPr>
              <a:t>4</a:t>
            </a:r>
            <a:r>
              <a:rPr lang="hr" sz="4300" b="0" i="0" u="none" strike="noStrike" cap="none">
                <a:solidFill>
                  <a:srgbClr val="45384A"/>
                </a:solidFill>
                <a:latin typeface="Shadows Into Light"/>
                <a:ea typeface="Shadows Into Light"/>
                <a:cs typeface="Shadows Into Light"/>
                <a:sym typeface="Shadows Into Light"/>
              </a:rPr>
              <a:t>.</a:t>
            </a:r>
            <a:endParaRPr sz="700"/>
          </a:p>
        </p:txBody>
      </p:sp>
      <p:sp>
        <p:nvSpPr>
          <p:cNvPr id="154" name="Google Shape;154;p26"/>
          <p:cNvSpPr txBox="1"/>
          <p:nvPr/>
        </p:nvSpPr>
        <p:spPr>
          <a:xfrm>
            <a:off x="6157357" y="3511902"/>
            <a:ext cx="481800" cy="615600"/>
          </a:xfrm>
          <a:prstGeom prst="rect">
            <a:avLst/>
          </a:prstGeom>
          <a:noFill/>
          <a:ln>
            <a:noFill/>
          </a:ln>
        </p:spPr>
        <p:txBody>
          <a:bodyPr spcFirstLastPara="1" wrap="square" lIns="0" tIns="0" rIns="0" bIns="0" anchor="t" anchorCtr="0">
            <a:spAutoFit/>
          </a:bodyPr>
          <a:lstStyle/>
          <a:p>
            <a:pPr marL="0" marR="0" lvl="1" indent="0" algn="ctr" rtl="0">
              <a:lnSpc>
                <a:spcPct val="93005"/>
              </a:lnSpc>
              <a:spcBef>
                <a:spcPts val="0"/>
              </a:spcBef>
              <a:spcAft>
                <a:spcPts val="0"/>
              </a:spcAft>
              <a:buNone/>
            </a:pPr>
            <a:r>
              <a:rPr lang="hr" sz="4300">
                <a:solidFill>
                  <a:srgbClr val="45384A"/>
                </a:solidFill>
                <a:latin typeface="Shadows Into Light"/>
                <a:ea typeface="Shadows Into Light"/>
                <a:cs typeface="Shadows Into Light"/>
                <a:sym typeface="Shadows Into Light"/>
              </a:rPr>
              <a:t>5</a:t>
            </a:r>
            <a:r>
              <a:rPr lang="hr" sz="4300" b="0" i="0" u="none" strike="noStrike" cap="none">
                <a:solidFill>
                  <a:srgbClr val="45384A"/>
                </a:solidFill>
                <a:latin typeface="Shadows Into Light"/>
                <a:ea typeface="Shadows Into Light"/>
                <a:cs typeface="Shadows Into Light"/>
                <a:sym typeface="Shadows Into Light"/>
              </a:rPr>
              <a:t>.</a:t>
            </a:r>
            <a:endParaRPr sz="700"/>
          </a:p>
        </p:txBody>
      </p:sp>
      <p:sp>
        <p:nvSpPr>
          <p:cNvPr id="155" name="Google Shape;155;p26"/>
          <p:cNvSpPr/>
          <p:nvPr/>
        </p:nvSpPr>
        <p:spPr>
          <a:xfrm>
            <a:off x="3406074" y="1650675"/>
            <a:ext cx="2146393" cy="2476831"/>
          </a:xfrm>
          <a:custGeom>
            <a:avLst/>
            <a:gdLst/>
            <a:ahLst/>
            <a:cxnLst/>
            <a:rect l="l" t="t" r="r" b="b"/>
            <a:pathLst>
              <a:path w="1477723" h="1595382" extrusionOk="0">
                <a:moveTo>
                  <a:pt x="0" y="0"/>
                </a:moveTo>
                <a:lnTo>
                  <a:pt x="1477723" y="0"/>
                </a:lnTo>
                <a:lnTo>
                  <a:pt x="1477723" y="1595382"/>
                </a:lnTo>
                <a:lnTo>
                  <a:pt x="0" y="1595382"/>
                </a:lnTo>
                <a:lnTo>
                  <a:pt x="0" y="0"/>
                </a:lnTo>
                <a:close/>
              </a:path>
            </a:pathLst>
          </a:custGeom>
          <a:blipFill rotWithShape="1">
            <a:blip r:embed="rId4">
              <a:alphaModFix/>
            </a:blip>
            <a:stretch>
              <a:fillRect/>
            </a:stretch>
          </a:blipFill>
          <a:ln>
            <a:noFill/>
          </a:ln>
        </p:spPr>
        <p:txBody>
          <a:bodyPr/>
          <a:lstStyle/>
          <a:p>
            <a:endParaRPr lang="hr-H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7"/>
          <p:cNvSpPr/>
          <p:nvPr/>
        </p:nvSpPr>
        <p:spPr>
          <a:xfrm>
            <a:off x="0" y="0"/>
            <a:ext cx="10835640" cy="51435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220" b="-9219"/>
            </a:stretch>
          </a:blipFill>
          <a:ln>
            <a:noFill/>
          </a:ln>
        </p:spPr>
        <p:txBody>
          <a:bodyPr/>
          <a:lstStyle/>
          <a:p>
            <a:endParaRPr lang="hr-HR"/>
          </a:p>
        </p:txBody>
      </p:sp>
      <p:sp>
        <p:nvSpPr>
          <p:cNvPr id="161" name="Google Shape;161;p27"/>
          <p:cNvSpPr txBox="1"/>
          <p:nvPr/>
        </p:nvSpPr>
        <p:spPr>
          <a:xfrm>
            <a:off x="275593" y="447080"/>
            <a:ext cx="4683900" cy="715800"/>
          </a:xfrm>
          <a:prstGeom prst="rect">
            <a:avLst/>
          </a:prstGeom>
          <a:noFill/>
          <a:ln>
            <a:noFill/>
          </a:ln>
        </p:spPr>
        <p:txBody>
          <a:bodyPr spcFirstLastPara="1" wrap="square" lIns="0" tIns="0" rIns="0" bIns="0" anchor="t" anchorCtr="0">
            <a:spAutoFit/>
          </a:bodyPr>
          <a:lstStyle/>
          <a:p>
            <a:pPr marL="0" marR="0" lvl="1" indent="0" algn="just" rtl="0">
              <a:lnSpc>
                <a:spcPct val="93000"/>
              </a:lnSpc>
              <a:spcBef>
                <a:spcPts val="0"/>
              </a:spcBef>
              <a:spcAft>
                <a:spcPts val="0"/>
              </a:spcAft>
              <a:buNone/>
            </a:pPr>
            <a:r>
              <a:rPr lang="hr" sz="5000" b="0" i="0" u="none" strike="noStrike" cap="none">
                <a:solidFill>
                  <a:srgbClr val="45384A"/>
                </a:solidFill>
                <a:latin typeface="Shadows Into Light"/>
                <a:ea typeface="Shadows Into Light"/>
                <a:cs typeface="Shadows Into Light"/>
                <a:sym typeface="Shadows Into Light"/>
              </a:rPr>
              <a:t>INTRODUCTION</a:t>
            </a:r>
            <a:endParaRPr sz="700"/>
          </a:p>
        </p:txBody>
      </p:sp>
      <p:sp>
        <p:nvSpPr>
          <p:cNvPr id="162" name="Google Shape;162;p27"/>
          <p:cNvSpPr txBox="1"/>
          <p:nvPr/>
        </p:nvSpPr>
        <p:spPr>
          <a:xfrm>
            <a:off x="1766384" y="1414350"/>
            <a:ext cx="6585000" cy="3935100"/>
          </a:xfrm>
          <a:prstGeom prst="rect">
            <a:avLst/>
          </a:prstGeom>
          <a:noFill/>
          <a:ln>
            <a:noFill/>
          </a:ln>
        </p:spPr>
        <p:txBody>
          <a:bodyPr spcFirstLastPara="1" wrap="square" lIns="0" tIns="0" rIns="0" bIns="0" anchor="t" anchorCtr="0">
            <a:spAutoFit/>
          </a:bodyPr>
          <a:lstStyle/>
          <a:p>
            <a:pPr marL="457200" lvl="0" indent="-228600" algn="l" rtl="0">
              <a:lnSpc>
                <a:spcPct val="115000"/>
              </a:lnSpc>
              <a:spcBef>
                <a:spcPts val="1200"/>
              </a:spcBef>
              <a:spcAft>
                <a:spcPts val="0"/>
              </a:spcAft>
              <a:buNone/>
            </a:pPr>
            <a:r>
              <a:rPr lang="hr" sz="1900" b="1">
                <a:solidFill>
                  <a:srgbClr val="45384A"/>
                </a:solidFill>
              </a:rPr>
              <a:t>Motivation:</a:t>
            </a:r>
            <a:endParaRPr sz="1900" b="1">
              <a:solidFill>
                <a:srgbClr val="45384A"/>
              </a:solidFill>
            </a:endParaRPr>
          </a:p>
          <a:p>
            <a:pPr marL="457200" lvl="0" indent="-349250" algn="l" rtl="0">
              <a:lnSpc>
                <a:spcPct val="115000"/>
              </a:lnSpc>
              <a:spcBef>
                <a:spcPts val="1200"/>
              </a:spcBef>
              <a:spcAft>
                <a:spcPts val="0"/>
              </a:spcAft>
              <a:buClr>
                <a:srgbClr val="45384A"/>
              </a:buClr>
              <a:buSzPts val="1900"/>
              <a:buChar char="●"/>
            </a:pPr>
            <a:r>
              <a:rPr lang="hr" sz="1900">
                <a:solidFill>
                  <a:srgbClr val="45384A"/>
                </a:solidFill>
              </a:rPr>
              <a:t>brain tumors → memory loss, motor disorders</a:t>
            </a:r>
            <a:endParaRPr sz="1900">
              <a:solidFill>
                <a:srgbClr val="45384A"/>
              </a:solidFill>
            </a:endParaRPr>
          </a:p>
          <a:p>
            <a:pPr marL="457200" lvl="0" indent="-349250" algn="l" rtl="0">
              <a:lnSpc>
                <a:spcPct val="115000"/>
              </a:lnSpc>
              <a:spcBef>
                <a:spcPts val="0"/>
              </a:spcBef>
              <a:spcAft>
                <a:spcPts val="0"/>
              </a:spcAft>
              <a:buClr>
                <a:srgbClr val="45384A"/>
              </a:buClr>
              <a:buSzPts val="1900"/>
              <a:buChar char="●"/>
            </a:pPr>
            <a:r>
              <a:rPr lang="hr" sz="1900">
                <a:solidFill>
                  <a:srgbClr val="45384A"/>
                </a:solidFill>
              </a:rPr>
              <a:t>early diagnosis is crucial</a:t>
            </a:r>
            <a:endParaRPr sz="1900">
              <a:solidFill>
                <a:srgbClr val="45384A"/>
              </a:solidFill>
            </a:endParaRPr>
          </a:p>
          <a:p>
            <a:pPr marL="457200" lvl="0" indent="-349250" algn="l" rtl="0">
              <a:lnSpc>
                <a:spcPct val="115000"/>
              </a:lnSpc>
              <a:spcBef>
                <a:spcPts val="0"/>
              </a:spcBef>
              <a:spcAft>
                <a:spcPts val="0"/>
              </a:spcAft>
              <a:buClr>
                <a:srgbClr val="45384A"/>
              </a:buClr>
              <a:buSzPts val="1900"/>
              <a:buChar char="●"/>
            </a:pPr>
            <a:r>
              <a:rPr lang="hr" sz="1900">
                <a:solidFill>
                  <a:srgbClr val="45384A"/>
                </a:solidFill>
              </a:rPr>
              <a:t>deep learning increasingly used for MRI-based detection</a:t>
            </a:r>
            <a:br>
              <a:rPr lang="hr" sz="1900">
                <a:solidFill>
                  <a:srgbClr val="45384A"/>
                </a:solidFill>
              </a:rPr>
            </a:br>
            <a:endParaRPr sz="1900">
              <a:solidFill>
                <a:srgbClr val="45384A"/>
              </a:solidFill>
            </a:endParaRPr>
          </a:p>
          <a:p>
            <a:pPr marL="0" lvl="0" indent="0" algn="l" rtl="0">
              <a:lnSpc>
                <a:spcPct val="115000"/>
              </a:lnSpc>
              <a:spcBef>
                <a:spcPts val="1200"/>
              </a:spcBef>
              <a:spcAft>
                <a:spcPts val="0"/>
              </a:spcAft>
              <a:buNone/>
            </a:pPr>
            <a:r>
              <a:rPr lang="hr" sz="1900" b="1">
                <a:solidFill>
                  <a:srgbClr val="45384A"/>
                </a:solidFill>
              </a:rPr>
              <a:t>Our Approach:</a:t>
            </a:r>
            <a:endParaRPr sz="1900" b="1">
              <a:solidFill>
                <a:srgbClr val="45384A"/>
              </a:solidFill>
            </a:endParaRPr>
          </a:p>
          <a:p>
            <a:pPr marL="457200" lvl="0" indent="-349250" algn="l" rtl="0">
              <a:lnSpc>
                <a:spcPct val="115000"/>
              </a:lnSpc>
              <a:spcBef>
                <a:spcPts val="1200"/>
              </a:spcBef>
              <a:spcAft>
                <a:spcPts val="0"/>
              </a:spcAft>
              <a:buClr>
                <a:srgbClr val="45384A"/>
              </a:buClr>
              <a:buSzPts val="1900"/>
              <a:buChar char="●"/>
            </a:pPr>
            <a:r>
              <a:rPr lang="hr" sz="1900">
                <a:solidFill>
                  <a:srgbClr val="45384A"/>
                </a:solidFill>
              </a:rPr>
              <a:t>3 CNN models: EfficientNet, MBConv CNN, Dilated CNN</a:t>
            </a:r>
            <a:endParaRPr sz="1900">
              <a:solidFill>
                <a:srgbClr val="45384A"/>
              </a:solidFill>
            </a:endParaRPr>
          </a:p>
          <a:p>
            <a:pPr marL="457200" lvl="0" indent="-349250" algn="l" rtl="0">
              <a:lnSpc>
                <a:spcPct val="115000"/>
              </a:lnSpc>
              <a:spcBef>
                <a:spcPts val="0"/>
              </a:spcBef>
              <a:spcAft>
                <a:spcPts val="0"/>
              </a:spcAft>
              <a:buClr>
                <a:srgbClr val="45384A"/>
              </a:buClr>
              <a:buSzPts val="1900"/>
              <a:buChar char="●"/>
            </a:pPr>
            <a:r>
              <a:rPr lang="hr" sz="1900">
                <a:solidFill>
                  <a:srgbClr val="45384A"/>
                </a:solidFill>
              </a:rPr>
              <a:t>4 tumor types: no tumor, glioma, meningioma, pituitary tumor</a:t>
            </a:r>
            <a:endParaRPr sz="1900">
              <a:solidFill>
                <a:srgbClr val="45384A"/>
              </a:solidFill>
            </a:endParaRPr>
          </a:p>
          <a:p>
            <a:pPr marL="457200" lvl="0" indent="0" algn="l" rtl="0">
              <a:lnSpc>
                <a:spcPct val="115000"/>
              </a:lnSpc>
              <a:spcBef>
                <a:spcPts val="1200"/>
              </a:spcBef>
              <a:spcAft>
                <a:spcPts val="1200"/>
              </a:spcAft>
              <a:buNone/>
            </a:pPr>
            <a:endParaRPr sz="1900">
              <a:solidFill>
                <a:srgbClr val="45384A"/>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8"/>
          <p:cNvSpPr/>
          <p:nvPr/>
        </p:nvSpPr>
        <p:spPr>
          <a:xfrm>
            <a:off x="0" y="0"/>
            <a:ext cx="10835640" cy="51435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219" b="-9219"/>
            </a:stretch>
          </a:blipFill>
          <a:ln>
            <a:noFill/>
          </a:ln>
        </p:spPr>
        <p:txBody>
          <a:bodyPr/>
          <a:lstStyle/>
          <a:p>
            <a:endParaRPr lang="hr-HR"/>
          </a:p>
        </p:txBody>
      </p:sp>
      <p:sp>
        <p:nvSpPr>
          <p:cNvPr id="168" name="Google Shape;168;p28"/>
          <p:cNvSpPr txBox="1"/>
          <p:nvPr/>
        </p:nvSpPr>
        <p:spPr>
          <a:xfrm>
            <a:off x="2230051" y="542925"/>
            <a:ext cx="4683900" cy="715800"/>
          </a:xfrm>
          <a:prstGeom prst="rect">
            <a:avLst/>
          </a:prstGeom>
          <a:noFill/>
          <a:ln>
            <a:noFill/>
          </a:ln>
        </p:spPr>
        <p:txBody>
          <a:bodyPr spcFirstLastPara="1" wrap="square" lIns="0" tIns="0" rIns="0" bIns="0" anchor="t" anchorCtr="0">
            <a:spAutoFit/>
          </a:bodyPr>
          <a:lstStyle/>
          <a:p>
            <a:pPr marL="0" marR="0" lvl="1" indent="0" algn="ctr" rtl="0">
              <a:lnSpc>
                <a:spcPct val="93000"/>
              </a:lnSpc>
              <a:spcBef>
                <a:spcPts val="0"/>
              </a:spcBef>
              <a:spcAft>
                <a:spcPts val="0"/>
              </a:spcAft>
              <a:buNone/>
            </a:pPr>
            <a:r>
              <a:rPr lang="hr" sz="5000">
                <a:solidFill>
                  <a:srgbClr val="45384A"/>
                </a:solidFill>
                <a:latin typeface="Shadows Into Light"/>
                <a:ea typeface="Shadows Into Light"/>
                <a:cs typeface="Shadows Into Light"/>
                <a:sym typeface="Shadows Into Light"/>
              </a:rPr>
              <a:t>DATA</a:t>
            </a:r>
            <a:endParaRPr sz="700"/>
          </a:p>
        </p:txBody>
      </p:sp>
      <p:sp>
        <p:nvSpPr>
          <p:cNvPr id="169" name="Google Shape;169;p28"/>
          <p:cNvSpPr txBox="1"/>
          <p:nvPr/>
        </p:nvSpPr>
        <p:spPr>
          <a:xfrm>
            <a:off x="637553" y="1412486"/>
            <a:ext cx="7992000" cy="989700"/>
          </a:xfrm>
          <a:prstGeom prst="rect">
            <a:avLst/>
          </a:prstGeom>
          <a:noFill/>
          <a:ln>
            <a:noFill/>
          </a:ln>
        </p:spPr>
        <p:txBody>
          <a:bodyPr spcFirstLastPara="1" wrap="square" lIns="0" tIns="0" rIns="0" bIns="0" anchor="t" anchorCtr="0">
            <a:spAutoFit/>
          </a:bodyPr>
          <a:lstStyle/>
          <a:p>
            <a:pPr marL="0" lvl="0" indent="0" algn="l" rtl="0">
              <a:lnSpc>
                <a:spcPct val="122222"/>
              </a:lnSpc>
              <a:spcBef>
                <a:spcPts val="0"/>
              </a:spcBef>
              <a:spcAft>
                <a:spcPts val="0"/>
              </a:spcAft>
              <a:buClr>
                <a:schemeClr val="dk1"/>
              </a:buClr>
              <a:buSzPts val="1100"/>
              <a:buFont typeface="Arial"/>
              <a:buNone/>
            </a:pPr>
            <a:r>
              <a:rPr lang="hr" sz="1900" b="1">
                <a:solidFill>
                  <a:srgbClr val="45384A"/>
                </a:solidFill>
                <a:highlight>
                  <a:srgbClr val="FFFFFF"/>
                </a:highlight>
              </a:rPr>
              <a:t>Brain Tumor MRI Dataset</a:t>
            </a:r>
            <a:endParaRPr sz="1900" b="1">
              <a:solidFill>
                <a:srgbClr val="45384A"/>
              </a:solidFill>
              <a:highlight>
                <a:srgbClr val="FFFFFF"/>
              </a:highlight>
            </a:endParaRPr>
          </a:p>
          <a:p>
            <a:pPr marL="0" lvl="0" indent="0" algn="l" rtl="0">
              <a:lnSpc>
                <a:spcPct val="115000"/>
              </a:lnSpc>
              <a:spcBef>
                <a:spcPts val="1200"/>
              </a:spcBef>
              <a:spcAft>
                <a:spcPts val="0"/>
              </a:spcAft>
              <a:buClr>
                <a:schemeClr val="dk1"/>
              </a:buClr>
              <a:buSzPts val="1100"/>
              <a:buFont typeface="Arial"/>
              <a:buNone/>
            </a:pPr>
            <a:endParaRPr sz="1100">
              <a:solidFill>
                <a:schemeClr val="dk1"/>
              </a:solidFill>
            </a:endParaRPr>
          </a:p>
          <a:p>
            <a:pPr marL="0" marR="0" lvl="1" indent="0" algn="ctr" rtl="0">
              <a:lnSpc>
                <a:spcPct val="96999"/>
              </a:lnSpc>
              <a:spcBef>
                <a:spcPts val="0"/>
              </a:spcBef>
              <a:spcAft>
                <a:spcPts val="0"/>
              </a:spcAft>
              <a:buNone/>
            </a:pPr>
            <a:endParaRPr sz="1900"/>
          </a:p>
        </p:txBody>
      </p:sp>
      <p:sp>
        <p:nvSpPr>
          <p:cNvPr id="170" name="Google Shape;170;p28"/>
          <p:cNvSpPr txBox="1"/>
          <p:nvPr/>
        </p:nvSpPr>
        <p:spPr>
          <a:xfrm>
            <a:off x="1094100" y="1956500"/>
            <a:ext cx="4683900" cy="2802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hr" sz="1900">
                <a:solidFill>
                  <a:srgbClr val="45384A"/>
                </a:solidFill>
              </a:rPr>
              <a:t>Contains </a:t>
            </a:r>
            <a:r>
              <a:rPr lang="hr" sz="1900" b="1">
                <a:solidFill>
                  <a:srgbClr val="45384A"/>
                </a:solidFill>
              </a:rPr>
              <a:t>7023 brain MRI images</a:t>
            </a:r>
            <a:r>
              <a:rPr lang="hr" sz="1900">
                <a:solidFill>
                  <a:srgbClr val="45384A"/>
                </a:solidFill>
              </a:rPr>
              <a:t>.</a:t>
            </a:r>
            <a:endParaRPr sz="1900">
              <a:solidFill>
                <a:srgbClr val="45384A"/>
              </a:solidFill>
            </a:endParaRPr>
          </a:p>
          <a:p>
            <a:pPr marL="0" lvl="0" indent="0" algn="l" rtl="0">
              <a:lnSpc>
                <a:spcPct val="115000"/>
              </a:lnSpc>
              <a:spcBef>
                <a:spcPts val="1200"/>
              </a:spcBef>
              <a:spcAft>
                <a:spcPts val="0"/>
              </a:spcAft>
              <a:buNone/>
            </a:pPr>
            <a:r>
              <a:rPr lang="hr" sz="1900" b="1">
                <a:solidFill>
                  <a:srgbClr val="45384A"/>
                </a:solidFill>
              </a:rPr>
              <a:t>Divided into four classes:</a:t>
            </a:r>
            <a:endParaRPr sz="1900" b="1">
              <a:solidFill>
                <a:srgbClr val="45384A"/>
              </a:solidFill>
            </a:endParaRPr>
          </a:p>
          <a:p>
            <a:pPr marL="457200" lvl="0" indent="-349250" algn="l" rtl="0">
              <a:lnSpc>
                <a:spcPct val="115000"/>
              </a:lnSpc>
              <a:spcBef>
                <a:spcPts val="1200"/>
              </a:spcBef>
              <a:spcAft>
                <a:spcPts val="0"/>
              </a:spcAft>
              <a:buClr>
                <a:srgbClr val="45384A"/>
              </a:buClr>
              <a:buSzPts val="1900"/>
              <a:buChar char="●"/>
            </a:pPr>
            <a:r>
              <a:rPr lang="hr" sz="1900">
                <a:solidFill>
                  <a:srgbClr val="45384A"/>
                </a:solidFill>
              </a:rPr>
              <a:t>Glioma</a:t>
            </a:r>
            <a:endParaRPr sz="1900">
              <a:solidFill>
                <a:srgbClr val="45384A"/>
              </a:solidFill>
            </a:endParaRPr>
          </a:p>
          <a:p>
            <a:pPr marL="457200" lvl="0" indent="-349250" algn="l" rtl="0">
              <a:lnSpc>
                <a:spcPct val="115000"/>
              </a:lnSpc>
              <a:spcBef>
                <a:spcPts val="0"/>
              </a:spcBef>
              <a:spcAft>
                <a:spcPts val="0"/>
              </a:spcAft>
              <a:buClr>
                <a:srgbClr val="45384A"/>
              </a:buClr>
              <a:buSzPts val="1900"/>
              <a:buChar char="●"/>
            </a:pPr>
            <a:r>
              <a:rPr lang="hr" sz="1900">
                <a:solidFill>
                  <a:srgbClr val="45384A"/>
                </a:solidFill>
              </a:rPr>
              <a:t>Meningioma</a:t>
            </a:r>
            <a:endParaRPr sz="1900">
              <a:solidFill>
                <a:srgbClr val="45384A"/>
              </a:solidFill>
            </a:endParaRPr>
          </a:p>
          <a:p>
            <a:pPr marL="457200" lvl="0" indent="-349250" algn="l" rtl="0">
              <a:lnSpc>
                <a:spcPct val="115000"/>
              </a:lnSpc>
              <a:spcBef>
                <a:spcPts val="0"/>
              </a:spcBef>
              <a:spcAft>
                <a:spcPts val="0"/>
              </a:spcAft>
              <a:buClr>
                <a:srgbClr val="45384A"/>
              </a:buClr>
              <a:buSzPts val="1900"/>
              <a:buChar char="●"/>
            </a:pPr>
            <a:r>
              <a:rPr lang="hr" sz="1900">
                <a:solidFill>
                  <a:srgbClr val="45384A"/>
                </a:solidFill>
              </a:rPr>
              <a:t>Pituitary tumor</a:t>
            </a:r>
            <a:endParaRPr sz="1900">
              <a:solidFill>
                <a:srgbClr val="45384A"/>
              </a:solidFill>
            </a:endParaRPr>
          </a:p>
          <a:p>
            <a:pPr marL="457200" lvl="0" indent="-349250" algn="l" rtl="0">
              <a:lnSpc>
                <a:spcPct val="115000"/>
              </a:lnSpc>
              <a:spcBef>
                <a:spcPts val="0"/>
              </a:spcBef>
              <a:spcAft>
                <a:spcPts val="0"/>
              </a:spcAft>
              <a:buClr>
                <a:srgbClr val="45384A"/>
              </a:buClr>
              <a:buSzPts val="1900"/>
              <a:buChar char="●"/>
            </a:pPr>
            <a:r>
              <a:rPr lang="hr" sz="1900">
                <a:solidFill>
                  <a:srgbClr val="45384A"/>
                </a:solidFill>
              </a:rPr>
              <a:t>Healthy brain (no tumor)</a:t>
            </a:r>
            <a:br>
              <a:rPr lang="hr" sz="1900">
                <a:solidFill>
                  <a:srgbClr val="45384A"/>
                </a:solidFill>
              </a:rPr>
            </a:br>
            <a:endParaRPr sz="1900">
              <a:solidFill>
                <a:srgbClr val="45384A"/>
              </a:solidFill>
            </a:endParaRPr>
          </a:p>
        </p:txBody>
      </p:sp>
      <p:pic>
        <p:nvPicPr>
          <p:cNvPr id="171" name="Google Shape;171;p28" title="Slika zaslona 2026-01-18 u 18.34.19.png"/>
          <p:cNvPicPr preferRelativeResize="0"/>
          <p:nvPr/>
        </p:nvPicPr>
        <p:blipFill>
          <a:blip r:embed="rId4">
            <a:alphaModFix/>
          </a:blip>
          <a:stretch>
            <a:fillRect/>
          </a:stretch>
        </p:blipFill>
        <p:spPr>
          <a:xfrm>
            <a:off x="5760030" y="1115700"/>
            <a:ext cx="3225866" cy="3187000"/>
          </a:xfrm>
          <a:prstGeom prst="rect">
            <a:avLst/>
          </a:prstGeom>
          <a:noFill/>
          <a:ln>
            <a:noFill/>
          </a:ln>
        </p:spPr>
      </p:pic>
      <p:sp>
        <p:nvSpPr>
          <p:cNvPr id="172" name="Google Shape;172;p28"/>
          <p:cNvSpPr txBox="1"/>
          <p:nvPr/>
        </p:nvSpPr>
        <p:spPr>
          <a:xfrm>
            <a:off x="5606798" y="701600"/>
            <a:ext cx="3000000" cy="477000"/>
          </a:xfrm>
          <a:prstGeom prst="rect">
            <a:avLst/>
          </a:prstGeom>
          <a:noFill/>
          <a:ln>
            <a:noFill/>
          </a:ln>
        </p:spPr>
        <p:txBody>
          <a:bodyPr spcFirstLastPara="1" wrap="square" lIns="91425" tIns="91425" rIns="91425" bIns="91425" anchor="t" anchorCtr="0">
            <a:spAutoFit/>
          </a:bodyPr>
          <a:lstStyle/>
          <a:p>
            <a:pPr marL="457200" lvl="0" indent="0" algn="l" rtl="0">
              <a:lnSpc>
                <a:spcPct val="115000"/>
              </a:lnSpc>
              <a:spcBef>
                <a:spcPts val="1200"/>
              </a:spcBef>
              <a:spcAft>
                <a:spcPts val="1200"/>
              </a:spcAft>
              <a:buNone/>
            </a:pPr>
            <a:r>
              <a:rPr lang="hr" sz="1900">
                <a:solidFill>
                  <a:srgbClr val="45384A"/>
                </a:solidFill>
              </a:rPr>
              <a:t>Glioma</a:t>
            </a:r>
            <a:endParaRPr/>
          </a:p>
        </p:txBody>
      </p:sp>
      <p:sp>
        <p:nvSpPr>
          <p:cNvPr id="173" name="Google Shape;173;p28"/>
          <p:cNvSpPr txBox="1"/>
          <p:nvPr/>
        </p:nvSpPr>
        <p:spPr>
          <a:xfrm>
            <a:off x="7368057" y="701600"/>
            <a:ext cx="1581900" cy="477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hr" sz="1900">
                <a:solidFill>
                  <a:srgbClr val="45384A"/>
                </a:solidFill>
              </a:rPr>
              <a:t>Meningioma</a:t>
            </a:r>
            <a:endParaRPr/>
          </a:p>
        </p:txBody>
      </p:sp>
      <p:sp>
        <p:nvSpPr>
          <p:cNvPr id="174" name="Google Shape;174;p28"/>
          <p:cNvSpPr txBox="1"/>
          <p:nvPr/>
        </p:nvSpPr>
        <p:spPr>
          <a:xfrm>
            <a:off x="5866892" y="4240950"/>
            <a:ext cx="1474200" cy="8136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hr" sz="1900">
                <a:solidFill>
                  <a:srgbClr val="45384A"/>
                </a:solidFill>
              </a:rPr>
              <a:t>Pituitary</a:t>
            </a:r>
            <a:br>
              <a:rPr lang="hr" sz="1900">
                <a:solidFill>
                  <a:srgbClr val="45384A"/>
                </a:solidFill>
              </a:rPr>
            </a:br>
            <a:r>
              <a:rPr lang="hr" sz="1900">
                <a:solidFill>
                  <a:srgbClr val="45384A"/>
                </a:solidFill>
              </a:rPr>
              <a:t>tumor</a:t>
            </a:r>
            <a:endParaRPr sz="1900">
              <a:solidFill>
                <a:srgbClr val="45384A"/>
              </a:solidFill>
            </a:endParaRPr>
          </a:p>
        </p:txBody>
      </p:sp>
      <p:sp>
        <p:nvSpPr>
          <p:cNvPr id="175" name="Google Shape;175;p28"/>
          <p:cNvSpPr txBox="1"/>
          <p:nvPr/>
        </p:nvSpPr>
        <p:spPr>
          <a:xfrm>
            <a:off x="7547750" y="4240950"/>
            <a:ext cx="1222500" cy="8136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hr" sz="1900">
                <a:solidFill>
                  <a:srgbClr val="45384A"/>
                </a:solidFill>
              </a:rPr>
              <a:t>Healthy</a:t>
            </a:r>
            <a:br>
              <a:rPr lang="hr" sz="1900">
                <a:solidFill>
                  <a:srgbClr val="45384A"/>
                </a:solidFill>
              </a:rPr>
            </a:br>
            <a:r>
              <a:rPr lang="hr" sz="1900">
                <a:solidFill>
                  <a:srgbClr val="45384A"/>
                </a:solidFill>
              </a:rPr>
              <a:t>brain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9"/>
          <p:cNvSpPr/>
          <p:nvPr/>
        </p:nvSpPr>
        <p:spPr>
          <a:xfrm>
            <a:off x="0" y="0"/>
            <a:ext cx="10835640" cy="51435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219" b="-9219"/>
            </a:stretch>
          </a:blipFill>
          <a:ln>
            <a:noFill/>
          </a:ln>
        </p:spPr>
        <p:txBody>
          <a:bodyPr/>
          <a:lstStyle/>
          <a:p>
            <a:endParaRPr lang="hr-HR"/>
          </a:p>
        </p:txBody>
      </p:sp>
      <p:sp>
        <p:nvSpPr>
          <p:cNvPr id="181" name="Google Shape;181;p29"/>
          <p:cNvSpPr txBox="1"/>
          <p:nvPr/>
        </p:nvSpPr>
        <p:spPr>
          <a:xfrm>
            <a:off x="2230051" y="542925"/>
            <a:ext cx="4683900" cy="715800"/>
          </a:xfrm>
          <a:prstGeom prst="rect">
            <a:avLst/>
          </a:prstGeom>
          <a:noFill/>
          <a:ln>
            <a:noFill/>
          </a:ln>
        </p:spPr>
        <p:txBody>
          <a:bodyPr spcFirstLastPara="1" wrap="square" lIns="0" tIns="0" rIns="0" bIns="0" anchor="t" anchorCtr="0">
            <a:spAutoFit/>
          </a:bodyPr>
          <a:lstStyle/>
          <a:p>
            <a:pPr marL="0" marR="0" lvl="1" indent="0" algn="ctr" rtl="0">
              <a:lnSpc>
                <a:spcPct val="93000"/>
              </a:lnSpc>
              <a:spcBef>
                <a:spcPts val="0"/>
              </a:spcBef>
              <a:spcAft>
                <a:spcPts val="0"/>
              </a:spcAft>
              <a:buNone/>
            </a:pPr>
            <a:r>
              <a:rPr lang="hr" sz="5000">
                <a:solidFill>
                  <a:srgbClr val="45384A"/>
                </a:solidFill>
                <a:latin typeface="Shadows Into Light"/>
                <a:ea typeface="Shadows Into Light"/>
                <a:cs typeface="Shadows Into Light"/>
                <a:sym typeface="Shadows Into Light"/>
              </a:rPr>
              <a:t>DATA</a:t>
            </a:r>
            <a:endParaRPr sz="700"/>
          </a:p>
        </p:txBody>
      </p:sp>
      <p:sp>
        <p:nvSpPr>
          <p:cNvPr id="182" name="Google Shape;182;p29"/>
          <p:cNvSpPr txBox="1"/>
          <p:nvPr/>
        </p:nvSpPr>
        <p:spPr>
          <a:xfrm>
            <a:off x="671275" y="934950"/>
            <a:ext cx="4683900" cy="4119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hr" sz="1900" b="1">
                <a:solidFill>
                  <a:srgbClr val="45384A"/>
                </a:solidFill>
              </a:rPr>
              <a:t>Image distribution:</a:t>
            </a:r>
            <a:endParaRPr sz="1900" b="1">
              <a:solidFill>
                <a:srgbClr val="45384A"/>
              </a:solidFill>
            </a:endParaRPr>
          </a:p>
          <a:p>
            <a:pPr marL="457200" lvl="0" indent="-349250" algn="l" rtl="0">
              <a:lnSpc>
                <a:spcPct val="115000"/>
              </a:lnSpc>
              <a:spcBef>
                <a:spcPts val="1200"/>
              </a:spcBef>
              <a:spcAft>
                <a:spcPts val="0"/>
              </a:spcAft>
              <a:buClr>
                <a:srgbClr val="45384A"/>
              </a:buClr>
              <a:buSzPts val="1900"/>
              <a:buChar char="●"/>
            </a:pPr>
            <a:r>
              <a:rPr lang="hr" sz="1900">
                <a:solidFill>
                  <a:srgbClr val="45384A"/>
                </a:solidFill>
              </a:rPr>
              <a:t>training: 4856</a:t>
            </a:r>
            <a:endParaRPr sz="1900">
              <a:solidFill>
                <a:srgbClr val="45384A"/>
              </a:solidFill>
            </a:endParaRPr>
          </a:p>
          <a:p>
            <a:pPr marL="457200" lvl="0" indent="-349250" algn="l" rtl="0">
              <a:lnSpc>
                <a:spcPct val="115000"/>
              </a:lnSpc>
              <a:spcBef>
                <a:spcPts val="0"/>
              </a:spcBef>
              <a:spcAft>
                <a:spcPts val="0"/>
              </a:spcAft>
              <a:buClr>
                <a:srgbClr val="45384A"/>
              </a:buClr>
              <a:buSzPts val="1900"/>
              <a:buChar char="●"/>
            </a:pPr>
            <a:r>
              <a:rPr lang="hr" sz="1900">
                <a:solidFill>
                  <a:srgbClr val="45384A"/>
                </a:solidFill>
              </a:rPr>
              <a:t>validation: 856</a:t>
            </a:r>
            <a:endParaRPr sz="1900">
              <a:solidFill>
                <a:srgbClr val="45384A"/>
              </a:solidFill>
            </a:endParaRPr>
          </a:p>
          <a:p>
            <a:pPr marL="457200" lvl="0" indent="-349250" algn="l" rtl="0">
              <a:lnSpc>
                <a:spcPct val="115000"/>
              </a:lnSpc>
              <a:spcBef>
                <a:spcPts val="0"/>
              </a:spcBef>
              <a:spcAft>
                <a:spcPts val="0"/>
              </a:spcAft>
              <a:buClr>
                <a:srgbClr val="45384A"/>
              </a:buClr>
              <a:buSzPts val="1900"/>
              <a:buChar char="●"/>
            </a:pPr>
            <a:r>
              <a:rPr lang="hr" sz="1900">
                <a:solidFill>
                  <a:srgbClr val="45384A"/>
                </a:solidFill>
              </a:rPr>
              <a:t>test: 1311</a:t>
            </a:r>
            <a:endParaRPr sz="1900">
              <a:solidFill>
                <a:srgbClr val="45384A"/>
              </a:solidFill>
            </a:endParaRPr>
          </a:p>
          <a:p>
            <a:pPr marL="0" lvl="0" indent="0" algn="l" rtl="0">
              <a:lnSpc>
                <a:spcPct val="115000"/>
              </a:lnSpc>
              <a:spcBef>
                <a:spcPts val="1200"/>
              </a:spcBef>
              <a:spcAft>
                <a:spcPts val="0"/>
              </a:spcAft>
              <a:buNone/>
            </a:pPr>
            <a:r>
              <a:rPr lang="hr" sz="1900" b="1">
                <a:solidFill>
                  <a:srgbClr val="45384A"/>
                </a:solidFill>
              </a:rPr>
              <a:t>Format:</a:t>
            </a:r>
            <a:r>
              <a:rPr lang="hr" sz="1900">
                <a:solidFill>
                  <a:srgbClr val="45384A"/>
                </a:solidFill>
              </a:rPr>
              <a:t> JPEG, brain MRI slices</a:t>
            </a:r>
            <a:endParaRPr sz="1900">
              <a:solidFill>
                <a:srgbClr val="45384A"/>
              </a:solidFill>
            </a:endParaRPr>
          </a:p>
          <a:p>
            <a:pPr marL="0" lvl="0" indent="0" algn="l" rtl="0">
              <a:lnSpc>
                <a:spcPct val="115000"/>
              </a:lnSpc>
              <a:spcBef>
                <a:spcPts val="1200"/>
              </a:spcBef>
              <a:spcAft>
                <a:spcPts val="0"/>
              </a:spcAft>
              <a:buNone/>
            </a:pPr>
            <a:r>
              <a:rPr lang="hr" sz="1900" b="1">
                <a:solidFill>
                  <a:srgbClr val="45384A"/>
                </a:solidFill>
              </a:rPr>
              <a:t>Preprocessing:</a:t>
            </a:r>
            <a:endParaRPr sz="1900" b="1">
              <a:solidFill>
                <a:srgbClr val="45384A"/>
              </a:solidFill>
            </a:endParaRPr>
          </a:p>
          <a:p>
            <a:pPr marL="457200" lvl="0" indent="-349250" algn="l" rtl="0">
              <a:lnSpc>
                <a:spcPct val="115000"/>
              </a:lnSpc>
              <a:spcBef>
                <a:spcPts val="1200"/>
              </a:spcBef>
              <a:spcAft>
                <a:spcPts val="0"/>
              </a:spcAft>
              <a:buClr>
                <a:srgbClr val="45384A"/>
              </a:buClr>
              <a:buSzPts val="1900"/>
              <a:buChar char="●"/>
            </a:pPr>
            <a:r>
              <a:rPr lang="hr" sz="1900">
                <a:solidFill>
                  <a:srgbClr val="45384A"/>
                </a:solidFill>
              </a:rPr>
              <a:t>resize images (standardization)</a:t>
            </a:r>
            <a:endParaRPr sz="1900">
              <a:solidFill>
                <a:srgbClr val="45384A"/>
              </a:solidFill>
            </a:endParaRPr>
          </a:p>
          <a:p>
            <a:pPr marL="457200" lvl="0" indent="-349250" algn="l" rtl="0">
              <a:lnSpc>
                <a:spcPct val="115000"/>
              </a:lnSpc>
              <a:spcBef>
                <a:spcPts val="0"/>
              </a:spcBef>
              <a:spcAft>
                <a:spcPts val="0"/>
              </a:spcAft>
              <a:buClr>
                <a:srgbClr val="45384A"/>
              </a:buClr>
              <a:buSzPts val="1900"/>
              <a:buChar char="●"/>
            </a:pPr>
            <a:r>
              <a:rPr lang="hr" sz="1900">
                <a:solidFill>
                  <a:srgbClr val="45384A"/>
                </a:solidFill>
              </a:rPr>
              <a:t>pixel intensity normalization</a:t>
            </a:r>
            <a:endParaRPr sz="1900">
              <a:solidFill>
                <a:srgbClr val="45384A"/>
              </a:solidFill>
            </a:endParaRPr>
          </a:p>
          <a:p>
            <a:pPr marL="457200" lvl="0" indent="-349250" algn="l" rtl="0">
              <a:lnSpc>
                <a:spcPct val="115000"/>
              </a:lnSpc>
              <a:spcBef>
                <a:spcPts val="0"/>
              </a:spcBef>
              <a:spcAft>
                <a:spcPts val="0"/>
              </a:spcAft>
              <a:buClr>
                <a:srgbClr val="45384A"/>
              </a:buClr>
              <a:buSzPts val="1900"/>
              <a:buChar char="●"/>
            </a:pPr>
            <a:r>
              <a:rPr lang="hr" sz="1900">
                <a:solidFill>
                  <a:srgbClr val="45384A"/>
                </a:solidFill>
              </a:rPr>
              <a:t>data augmentation: rotation, flipping, scaling</a:t>
            </a:r>
            <a:endParaRPr sz="1900">
              <a:solidFill>
                <a:srgbClr val="45384A"/>
              </a:solidFill>
            </a:endParaRPr>
          </a:p>
        </p:txBody>
      </p:sp>
      <p:pic>
        <p:nvPicPr>
          <p:cNvPr id="183" name="Google Shape;183;p29" title="Slika zaslona 2026-01-18 u 18.34.19.png"/>
          <p:cNvPicPr preferRelativeResize="0"/>
          <p:nvPr/>
        </p:nvPicPr>
        <p:blipFill>
          <a:blip r:embed="rId4">
            <a:alphaModFix/>
          </a:blip>
          <a:stretch>
            <a:fillRect/>
          </a:stretch>
        </p:blipFill>
        <p:spPr>
          <a:xfrm>
            <a:off x="5760030" y="1115700"/>
            <a:ext cx="3225866" cy="3187000"/>
          </a:xfrm>
          <a:prstGeom prst="rect">
            <a:avLst/>
          </a:prstGeom>
          <a:noFill/>
          <a:ln>
            <a:noFill/>
          </a:ln>
        </p:spPr>
      </p:pic>
      <p:sp>
        <p:nvSpPr>
          <p:cNvPr id="184" name="Google Shape;184;p29"/>
          <p:cNvSpPr txBox="1"/>
          <p:nvPr/>
        </p:nvSpPr>
        <p:spPr>
          <a:xfrm>
            <a:off x="5606798" y="701600"/>
            <a:ext cx="3000000" cy="477000"/>
          </a:xfrm>
          <a:prstGeom prst="rect">
            <a:avLst/>
          </a:prstGeom>
          <a:noFill/>
          <a:ln>
            <a:noFill/>
          </a:ln>
        </p:spPr>
        <p:txBody>
          <a:bodyPr spcFirstLastPara="1" wrap="square" lIns="91425" tIns="91425" rIns="91425" bIns="91425" anchor="t" anchorCtr="0">
            <a:spAutoFit/>
          </a:bodyPr>
          <a:lstStyle/>
          <a:p>
            <a:pPr marL="457200" lvl="0" indent="0" algn="l" rtl="0">
              <a:lnSpc>
                <a:spcPct val="115000"/>
              </a:lnSpc>
              <a:spcBef>
                <a:spcPts val="1200"/>
              </a:spcBef>
              <a:spcAft>
                <a:spcPts val="1200"/>
              </a:spcAft>
              <a:buNone/>
            </a:pPr>
            <a:r>
              <a:rPr lang="hr" sz="1900">
                <a:solidFill>
                  <a:srgbClr val="45384A"/>
                </a:solidFill>
              </a:rPr>
              <a:t>Glioma</a:t>
            </a:r>
            <a:endParaRPr/>
          </a:p>
        </p:txBody>
      </p:sp>
      <p:sp>
        <p:nvSpPr>
          <p:cNvPr id="185" name="Google Shape;185;p29"/>
          <p:cNvSpPr txBox="1"/>
          <p:nvPr/>
        </p:nvSpPr>
        <p:spPr>
          <a:xfrm>
            <a:off x="7368057" y="701600"/>
            <a:ext cx="1581900" cy="477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hr" sz="1900">
                <a:solidFill>
                  <a:srgbClr val="45384A"/>
                </a:solidFill>
              </a:rPr>
              <a:t>Meningioma</a:t>
            </a:r>
            <a:endParaRPr/>
          </a:p>
        </p:txBody>
      </p:sp>
      <p:sp>
        <p:nvSpPr>
          <p:cNvPr id="186" name="Google Shape;186;p29"/>
          <p:cNvSpPr txBox="1"/>
          <p:nvPr/>
        </p:nvSpPr>
        <p:spPr>
          <a:xfrm>
            <a:off x="5866892" y="4240950"/>
            <a:ext cx="1474200" cy="8136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hr" sz="1900">
                <a:solidFill>
                  <a:srgbClr val="45384A"/>
                </a:solidFill>
              </a:rPr>
              <a:t>Pituitary</a:t>
            </a:r>
            <a:br>
              <a:rPr lang="hr" sz="1900">
                <a:solidFill>
                  <a:srgbClr val="45384A"/>
                </a:solidFill>
              </a:rPr>
            </a:br>
            <a:r>
              <a:rPr lang="hr" sz="1900">
                <a:solidFill>
                  <a:srgbClr val="45384A"/>
                </a:solidFill>
              </a:rPr>
              <a:t>tumor</a:t>
            </a:r>
            <a:endParaRPr sz="1900">
              <a:solidFill>
                <a:srgbClr val="45384A"/>
              </a:solidFill>
            </a:endParaRPr>
          </a:p>
        </p:txBody>
      </p:sp>
      <p:sp>
        <p:nvSpPr>
          <p:cNvPr id="187" name="Google Shape;187;p29"/>
          <p:cNvSpPr txBox="1"/>
          <p:nvPr/>
        </p:nvSpPr>
        <p:spPr>
          <a:xfrm>
            <a:off x="7547750" y="4240950"/>
            <a:ext cx="1222500" cy="8136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hr" sz="1900">
                <a:solidFill>
                  <a:srgbClr val="45384A"/>
                </a:solidFill>
              </a:rPr>
              <a:t>Healthy</a:t>
            </a:r>
            <a:br>
              <a:rPr lang="hr" sz="1900">
                <a:solidFill>
                  <a:srgbClr val="45384A"/>
                </a:solidFill>
              </a:rPr>
            </a:br>
            <a:r>
              <a:rPr lang="hr" sz="1900">
                <a:solidFill>
                  <a:srgbClr val="45384A"/>
                </a:solidFill>
              </a:rPr>
              <a:t>brain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0"/>
          <p:cNvSpPr/>
          <p:nvPr/>
        </p:nvSpPr>
        <p:spPr>
          <a:xfrm>
            <a:off x="0" y="0"/>
            <a:ext cx="10835640" cy="51435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219" b="-9219"/>
            </a:stretch>
          </a:blipFill>
          <a:ln>
            <a:noFill/>
          </a:ln>
        </p:spPr>
        <p:txBody>
          <a:bodyPr/>
          <a:lstStyle/>
          <a:p>
            <a:endParaRPr lang="hr-HR"/>
          </a:p>
        </p:txBody>
      </p:sp>
      <p:sp>
        <p:nvSpPr>
          <p:cNvPr id="193" name="Google Shape;193;p30"/>
          <p:cNvSpPr txBox="1"/>
          <p:nvPr/>
        </p:nvSpPr>
        <p:spPr>
          <a:xfrm>
            <a:off x="2230051" y="542925"/>
            <a:ext cx="4683900" cy="715800"/>
          </a:xfrm>
          <a:prstGeom prst="rect">
            <a:avLst/>
          </a:prstGeom>
          <a:noFill/>
          <a:ln>
            <a:noFill/>
          </a:ln>
        </p:spPr>
        <p:txBody>
          <a:bodyPr spcFirstLastPara="1" wrap="square" lIns="0" tIns="0" rIns="0" bIns="0" anchor="t" anchorCtr="0">
            <a:spAutoFit/>
          </a:bodyPr>
          <a:lstStyle/>
          <a:p>
            <a:pPr marL="0" marR="0" lvl="1" indent="0" algn="ctr" rtl="0">
              <a:lnSpc>
                <a:spcPct val="93000"/>
              </a:lnSpc>
              <a:spcBef>
                <a:spcPts val="0"/>
              </a:spcBef>
              <a:spcAft>
                <a:spcPts val="0"/>
              </a:spcAft>
              <a:buNone/>
            </a:pPr>
            <a:r>
              <a:rPr lang="hr" sz="5000">
                <a:solidFill>
                  <a:srgbClr val="45384A"/>
                </a:solidFill>
                <a:latin typeface="Shadows Into Light"/>
                <a:ea typeface="Shadows Into Light"/>
                <a:cs typeface="Shadows Into Light"/>
                <a:sym typeface="Shadows Into Light"/>
              </a:rPr>
              <a:t>OUR SOLUTIONS</a:t>
            </a:r>
            <a:endParaRPr sz="700">
              <a:solidFill>
                <a:srgbClr val="45384A"/>
              </a:solidFill>
            </a:endParaRPr>
          </a:p>
        </p:txBody>
      </p:sp>
      <p:sp>
        <p:nvSpPr>
          <p:cNvPr id="194" name="Google Shape;194;p30"/>
          <p:cNvSpPr txBox="1"/>
          <p:nvPr/>
        </p:nvSpPr>
        <p:spPr>
          <a:xfrm>
            <a:off x="759400" y="1521300"/>
            <a:ext cx="5881500" cy="21009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1200"/>
              </a:spcBef>
              <a:spcAft>
                <a:spcPts val="0"/>
              </a:spcAft>
              <a:buClr>
                <a:schemeClr val="dk1"/>
              </a:buClr>
              <a:buSzPts val="1100"/>
              <a:buFont typeface="Arial"/>
              <a:buNone/>
            </a:pPr>
            <a:r>
              <a:rPr lang="hr" sz="1900">
                <a:solidFill>
                  <a:srgbClr val="45384A"/>
                </a:solidFill>
              </a:rPr>
              <a:t>Comparison of three convolutional neural networks:</a:t>
            </a:r>
            <a:endParaRPr sz="1900">
              <a:solidFill>
                <a:srgbClr val="45384A"/>
              </a:solidFill>
            </a:endParaRPr>
          </a:p>
          <a:p>
            <a:pPr marL="457200" lvl="0" indent="-349250" algn="l" rtl="0">
              <a:lnSpc>
                <a:spcPct val="150000"/>
              </a:lnSpc>
              <a:spcBef>
                <a:spcPts val="1200"/>
              </a:spcBef>
              <a:spcAft>
                <a:spcPts val="0"/>
              </a:spcAft>
              <a:buClr>
                <a:srgbClr val="45384A"/>
              </a:buClr>
              <a:buSzPts val="1900"/>
              <a:buChar char="●"/>
            </a:pPr>
            <a:r>
              <a:rPr lang="hr" sz="1900">
                <a:solidFill>
                  <a:srgbClr val="45384A"/>
                </a:solidFill>
              </a:rPr>
              <a:t>one deep CNN: </a:t>
            </a:r>
            <a:r>
              <a:rPr lang="hr" sz="1900" b="1">
                <a:solidFill>
                  <a:srgbClr val="45384A"/>
                </a:solidFill>
              </a:rPr>
              <a:t>EfficientNet-B3</a:t>
            </a:r>
            <a:endParaRPr sz="1900" b="1">
              <a:solidFill>
                <a:srgbClr val="45384A"/>
              </a:solidFill>
            </a:endParaRPr>
          </a:p>
          <a:p>
            <a:pPr marL="457200" lvl="0" indent="-349250" algn="l" rtl="0">
              <a:lnSpc>
                <a:spcPct val="150000"/>
              </a:lnSpc>
              <a:spcBef>
                <a:spcPts val="0"/>
              </a:spcBef>
              <a:spcAft>
                <a:spcPts val="0"/>
              </a:spcAft>
              <a:buClr>
                <a:srgbClr val="45384A"/>
              </a:buClr>
              <a:buSzPts val="1900"/>
              <a:buChar char="●"/>
            </a:pPr>
            <a:r>
              <a:rPr lang="hr" sz="1900">
                <a:solidFill>
                  <a:srgbClr val="45384A"/>
                </a:solidFill>
              </a:rPr>
              <a:t>two </a:t>
            </a:r>
            <a:r>
              <a:rPr lang="hr" sz="1900" b="1">
                <a:solidFill>
                  <a:srgbClr val="45384A"/>
                </a:solidFill>
              </a:rPr>
              <a:t>CNNs</a:t>
            </a:r>
            <a:r>
              <a:rPr lang="hr" sz="1900">
                <a:solidFill>
                  <a:srgbClr val="45384A"/>
                </a:solidFill>
              </a:rPr>
              <a:t> built from scratch</a:t>
            </a:r>
            <a:endParaRPr sz="1900">
              <a:solidFill>
                <a:srgbClr val="45384A"/>
              </a:solidFill>
            </a:endParaRPr>
          </a:p>
          <a:p>
            <a:pPr marL="0" lvl="0" indent="0" algn="l" rtl="0">
              <a:lnSpc>
                <a:spcPct val="115000"/>
              </a:lnSpc>
              <a:spcBef>
                <a:spcPts val="1200"/>
              </a:spcBef>
              <a:spcAft>
                <a:spcPts val="1200"/>
              </a:spcAft>
              <a:buNone/>
            </a:pPr>
            <a:endParaRPr sz="1900">
              <a:solidFill>
                <a:srgbClr val="45384A"/>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1"/>
          <p:cNvSpPr/>
          <p:nvPr/>
        </p:nvSpPr>
        <p:spPr>
          <a:xfrm>
            <a:off x="0" y="-107025"/>
            <a:ext cx="10835640" cy="51435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219" b="-9219"/>
            </a:stretch>
          </a:blipFill>
          <a:ln>
            <a:noFill/>
          </a:ln>
        </p:spPr>
        <p:txBody>
          <a:bodyPr/>
          <a:lstStyle/>
          <a:p>
            <a:endParaRPr lang="hr-HR"/>
          </a:p>
        </p:txBody>
      </p:sp>
      <p:sp>
        <p:nvSpPr>
          <p:cNvPr id="200" name="Google Shape;200;p31"/>
          <p:cNvSpPr txBox="1"/>
          <p:nvPr/>
        </p:nvSpPr>
        <p:spPr>
          <a:xfrm>
            <a:off x="841925" y="1455750"/>
            <a:ext cx="7839000" cy="3186300"/>
          </a:xfrm>
          <a:prstGeom prst="rect">
            <a:avLst/>
          </a:prstGeom>
          <a:noFill/>
          <a:ln>
            <a:noFill/>
          </a:ln>
        </p:spPr>
        <p:txBody>
          <a:bodyPr spcFirstLastPara="1" wrap="square" lIns="0" tIns="0" rIns="0" bIns="0" anchor="t" anchorCtr="0">
            <a:spAutoFit/>
          </a:bodyPr>
          <a:lstStyle/>
          <a:p>
            <a:pPr marL="457200" marR="0" lvl="0" indent="-342900" algn="l" rtl="0">
              <a:lnSpc>
                <a:spcPct val="150000"/>
              </a:lnSpc>
              <a:spcBef>
                <a:spcPts val="0"/>
              </a:spcBef>
              <a:spcAft>
                <a:spcPts val="0"/>
              </a:spcAft>
              <a:buClr>
                <a:srgbClr val="45384A"/>
              </a:buClr>
              <a:buSzPts val="1800"/>
              <a:buChar char="●"/>
            </a:pPr>
            <a:r>
              <a:rPr lang="hr" sz="1800">
                <a:solidFill>
                  <a:srgbClr val="45384A"/>
                </a:solidFill>
              </a:rPr>
              <a:t>compromise between simple CNN and deeper models</a:t>
            </a:r>
            <a:endParaRPr sz="1800">
              <a:solidFill>
                <a:srgbClr val="45384A"/>
              </a:solidFill>
            </a:endParaRPr>
          </a:p>
          <a:p>
            <a:pPr marL="457200" marR="0" lvl="0" indent="-342900" algn="l" rtl="0">
              <a:lnSpc>
                <a:spcPct val="150000"/>
              </a:lnSpc>
              <a:spcBef>
                <a:spcPts val="0"/>
              </a:spcBef>
              <a:spcAft>
                <a:spcPts val="0"/>
              </a:spcAft>
              <a:buClr>
                <a:srgbClr val="45384A"/>
              </a:buClr>
              <a:buSzPts val="1800"/>
              <a:buChar char="●"/>
            </a:pPr>
            <a:r>
              <a:rPr lang="hr" sz="1800" b="1">
                <a:solidFill>
                  <a:srgbClr val="45384A"/>
                </a:solidFill>
              </a:rPr>
              <a:t>four convolutional blocks</a:t>
            </a:r>
            <a:r>
              <a:rPr lang="hr" sz="1800">
                <a:solidFill>
                  <a:srgbClr val="45384A"/>
                </a:solidFill>
              </a:rPr>
              <a:t>:</a:t>
            </a:r>
            <a:endParaRPr sz="1800">
              <a:solidFill>
                <a:srgbClr val="45384A"/>
              </a:solidFill>
            </a:endParaRPr>
          </a:p>
          <a:p>
            <a:pPr marL="914400" marR="0" lvl="1" indent="-342900" algn="l" rtl="0">
              <a:lnSpc>
                <a:spcPct val="150000"/>
              </a:lnSpc>
              <a:spcBef>
                <a:spcPts val="0"/>
              </a:spcBef>
              <a:spcAft>
                <a:spcPts val="0"/>
              </a:spcAft>
              <a:buClr>
                <a:srgbClr val="45384A"/>
              </a:buClr>
              <a:buSzPts val="1800"/>
              <a:buChar char="○"/>
            </a:pPr>
            <a:r>
              <a:rPr lang="hr" sz="1800">
                <a:solidFill>
                  <a:srgbClr val="45384A"/>
                </a:solidFill>
              </a:rPr>
              <a:t>blocks 1-3: two 3x3 conv layers, batch norm + ReLU, max-pooling (32 →64 → 128 channels)</a:t>
            </a:r>
            <a:endParaRPr sz="1800">
              <a:solidFill>
                <a:srgbClr val="45384A"/>
              </a:solidFill>
            </a:endParaRPr>
          </a:p>
          <a:p>
            <a:pPr marL="914400" marR="0" lvl="1" indent="-342900" algn="l" rtl="0">
              <a:lnSpc>
                <a:spcPct val="150000"/>
              </a:lnSpc>
              <a:spcBef>
                <a:spcPts val="0"/>
              </a:spcBef>
              <a:spcAft>
                <a:spcPts val="0"/>
              </a:spcAft>
              <a:buClr>
                <a:srgbClr val="45384A"/>
              </a:buClr>
              <a:buSzPts val="1800"/>
              <a:buChar char="○"/>
            </a:pPr>
            <a:r>
              <a:rPr lang="hr" sz="1800">
                <a:solidFill>
                  <a:srgbClr val="45384A"/>
                </a:solidFill>
              </a:rPr>
              <a:t>block 4: </a:t>
            </a:r>
            <a:r>
              <a:rPr lang="hr" sz="1800" b="1">
                <a:solidFill>
                  <a:srgbClr val="45384A"/>
                </a:solidFill>
              </a:rPr>
              <a:t>dilated conv </a:t>
            </a:r>
            <a:r>
              <a:rPr lang="hr" sz="1800">
                <a:solidFill>
                  <a:srgbClr val="45384A"/>
                </a:solidFill>
              </a:rPr>
              <a:t>(factor 2) for larger receptive field</a:t>
            </a:r>
            <a:endParaRPr sz="1800">
              <a:solidFill>
                <a:srgbClr val="45384A"/>
              </a:solidFill>
            </a:endParaRPr>
          </a:p>
          <a:p>
            <a:pPr marL="457200" marR="0" lvl="0" indent="-342900" algn="l" rtl="0">
              <a:lnSpc>
                <a:spcPct val="150000"/>
              </a:lnSpc>
              <a:spcBef>
                <a:spcPts val="0"/>
              </a:spcBef>
              <a:spcAft>
                <a:spcPts val="0"/>
              </a:spcAft>
              <a:buClr>
                <a:srgbClr val="45384A"/>
              </a:buClr>
              <a:buSzPts val="1800"/>
              <a:buChar char="●"/>
            </a:pPr>
            <a:r>
              <a:rPr lang="hr" sz="1800" b="1">
                <a:solidFill>
                  <a:srgbClr val="45384A"/>
                </a:solidFill>
              </a:rPr>
              <a:t>final layers</a:t>
            </a:r>
            <a:r>
              <a:rPr lang="hr" sz="1800">
                <a:solidFill>
                  <a:srgbClr val="45384A"/>
                </a:solidFill>
              </a:rPr>
              <a:t>: adaptive average pooling, fully connected layers with </a:t>
            </a:r>
            <a:r>
              <a:rPr lang="hr" sz="1800" b="1">
                <a:solidFill>
                  <a:srgbClr val="45384A"/>
                </a:solidFill>
              </a:rPr>
              <a:t>40%</a:t>
            </a:r>
            <a:r>
              <a:rPr lang="hr" sz="1800">
                <a:solidFill>
                  <a:srgbClr val="45384A"/>
                </a:solidFill>
              </a:rPr>
              <a:t> dropout</a:t>
            </a:r>
            <a:endParaRPr sz="1800">
              <a:solidFill>
                <a:srgbClr val="45384A"/>
              </a:solidFill>
            </a:endParaRPr>
          </a:p>
          <a:p>
            <a:pPr marL="457200" marR="0" lvl="0" indent="-342900" algn="l" rtl="0">
              <a:lnSpc>
                <a:spcPct val="150000"/>
              </a:lnSpc>
              <a:spcBef>
                <a:spcPts val="0"/>
              </a:spcBef>
              <a:spcAft>
                <a:spcPts val="0"/>
              </a:spcAft>
              <a:buClr>
                <a:srgbClr val="45384A"/>
              </a:buClr>
              <a:buSzPts val="1800"/>
              <a:buChar char="●"/>
            </a:pPr>
            <a:r>
              <a:rPr lang="hr" sz="1800">
                <a:solidFill>
                  <a:srgbClr val="45384A"/>
                </a:solidFill>
              </a:rPr>
              <a:t>output: 4 neurons, softmax for multi-class brain tumor classification</a:t>
            </a:r>
            <a:endParaRPr sz="1800">
              <a:solidFill>
                <a:srgbClr val="45384A"/>
              </a:solidFill>
            </a:endParaRPr>
          </a:p>
        </p:txBody>
      </p:sp>
      <p:sp>
        <p:nvSpPr>
          <p:cNvPr id="201" name="Google Shape;201;p31"/>
          <p:cNvSpPr txBox="1"/>
          <p:nvPr/>
        </p:nvSpPr>
        <p:spPr>
          <a:xfrm>
            <a:off x="841918" y="461775"/>
            <a:ext cx="4683900" cy="715800"/>
          </a:xfrm>
          <a:prstGeom prst="rect">
            <a:avLst/>
          </a:prstGeom>
          <a:noFill/>
          <a:ln>
            <a:noFill/>
          </a:ln>
        </p:spPr>
        <p:txBody>
          <a:bodyPr spcFirstLastPara="1" wrap="square" lIns="0" tIns="0" rIns="0" bIns="0" anchor="t" anchorCtr="0">
            <a:spAutoFit/>
          </a:bodyPr>
          <a:lstStyle/>
          <a:p>
            <a:pPr marL="0" marR="0" lvl="1" indent="0" algn="just" rtl="0">
              <a:lnSpc>
                <a:spcPct val="93000"/>
              </a:lnSpc>
              <a:spcBef>
                <a:spcPts val="0"/>
              </a:spcBef>
              <a:spcAft>
                <a:spcPts val="0"/>
              </a:spcAft>
              <a:buNone/>
            </a:pPr>
            <a:r>
              <a:rPr lang="hr" sz="5000">
                <a:solidFill>
                  <a:srgbClr val="45384A"/>
                </a:solidFill>
                <a:latin typeface="Shadows Into Light"/>
                <a:ea typeface="Shadows Into Light"/>
                <a:cs typeface="Shadows Into Light"/>
                <a:sym typeface="Shadows Into Light"/>
              </a:rPr>
              <a:t>First CNN Model</a:t>
            </a:r>
            <a:endParaRPr sz="7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2"/>
          <p:cNvSpPr/>
          <p:nvPr/>
        </p:nvSpPr>
        <p:spPr>
          <a:xfrm>
            <a:off x="0" y="0"/>
            <a:ext cx="10835640" cy="51435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219" b="-9219"/>
            </a:stretch>
          </a:blipFill>
          <a:ln>
            <a:noFill/>
          </a:ln>
        </p:spPr>
        <p:txBody>
          <a:bodyPr/>
          <a:lstStyle/>
          <a:p>
            <a:endParaRPr lang="hr-HR"/>
          </a:p>
        </p:txBody>
      </p:sp>
      <p:sp>
        <p:nvSpPr>
          <p:cNvPr id="207" name="Google Shape;207;p32"/>
          <p:cNvSpPr/>
          <p:nvPr/>
        </p:nvSpPr>
        <p:spPr>
          <a:xfrm rot="-271836">
            <a:off x="4981016" y="550928"/>
            <a:ext cx="3229358" cy="1074496"/>
          </a:xfrm>
          <a:custGeom>
            <a:avLst/>
            <a:gdLst/>
            <a:ahLst/>
            <a:cxnLst/>
            <a:rect l="l" t="t" r="r" b="b"/>
            <a:pathLst>
              <a:path w="6458716" h="2148991" extrusionOk="0">
                <a:moveTo>
                  <a:pt x="0" y="0"/>
                </a:moveTo>
                <a:lnTo>
                  <a:pt x="6458716" y="0"/>
                </a:lnTo>
                <a:lnTo>
                  <a:pt x="6458716" y="2148991"/>
                </a:lnTo>
                <a:lnTo>
                  <a:pt x="0" y="2148991"/>
                </a:lnTo>
                <a:lnTo>
                  <a:pt x="0" y="0"/>
                </a:lnTo>
                <a:close/>
              </a:path>
            </a:pathLst>
          </a:custGeom>
          <a:blipFill rotWithShape="1">
            <a:blip r:embed="rId4">
              <a:alphaModFix/>
            </a:blip>
            <a:stretch>
              <a:fillRect/>
            </a:stretch>
          </a:blipFill>
          <a:ln>
            <a:noFill/>
          </a:ln>
        </p:spPr>
        <p:txBody>
          <a:bodyPr/>
          <a:lstStyle/>
          <a:p>
            <a:endParaRPr lang="hr-HR"/>
          </a:p>
        </p:txBody>
      </p:sp>
      <p:sp>
        <p:nvSpPr>
          <p:cNvPr id="208" name="Google Shape;208;p32"/>
          <p:cNvSpPr txBox="1"/>
          <p:nvPr/>
        </p:nvSpPr>
        <p:spPr>
          <a:xfrm rot="-271836">
            <a:off x="5594473" y="692573"/>
            <a:ext cx="2372800" cy="740747"/>
          </a:xfrm>
          <a:prstGeom prst="rect">
            <a:avLst/>
          </a:prstGeom>
          <a:noFill/>
          <a:ln>
            <a:noFill/>
          </a:ln>
        </p:spPr>
        <p:txBody>
          <a:bodyPr spcFirstLastPara="1" wrap="square" lIns="0" tIns="0" rIns="0" bIns="0" anchor="t" anchorCtr="0">
            <a:spAutoFit/>
          </a:bodyPr>
          <a:lstStyle/>
          <a:p>
            <a:pPr marL="0" marR="0" lvl="0" indent="0" algn="ctr" rtl="0">
              <a:lnSpc>
                <a:spcPct val="139990"/>
              </a:lnSpc>
              <a:spcBef>
                <a:spcPts val="0"/>
              </a:spcBef>
              <a:spcAft>
                <a:spcPts val="0"/>
              </a:spcAft>
              <a:buNone/>
            </a:pPr>
            <a:r>
              <a:rPr lang="hr" sz="1100" b="0" i="0" u="none" strike="noStrike" cap="none">
                <a:solidFill>
                  <a:srgbClr val="000000"/>
                </a:solidFill>
                <a:latin typeface="Arial"/>
                <a:ea typeface="Arial"/>
                <a:cs typeface="Arial"/>
                <a:sym typeface="Arial"/>
              </a:rPr>
              <a:t>Lorem ipsum dolor sit amet consectetur adipiscing elit, sociis eros varius volutpat porttitor mollis primis, facilisis quisque himenaeos lacinia ornare purus.</a:t>
            </a:r>
            <a:endParaRPr sz="700"/>
          </a:p>
        </p:txBody>
      </p:sp>
      <p:sp>
        <p:nvSpPr>
          <p:cNvPr id="209" name="Google Shape;209;p32"/>
          <p:cNvSpPr/>
          <p:nvPr/>
        </p:nvSpPr>
        <p:spPr>
          <a:xfrm rot="312848">
            <a:off x="5456026" y="2146803"/>
            <a:ext cx="3229358" cy="1074495"/>
          </a:xfrm>
          <a:custGeom>
            <a:avLst/>
            <a:gdLst/>
            <a:ahLst/>
            <a:cxnLst/>
            <a:rect l="l" t="t" r="r" b="b"/>
            <a:pathLst>
              <a:path w="6458716" h="2148991" extrusionOk="0">
                <a:moveTo>
                  <a:pt x="0" y="0"/>
                </a:moveTo>
                <a:lnTo>
                  <a:pt x="6458715" y="0"/>
                </a:lnTo>
                <a:lnTo>
                  <a:pt x="6458715" y="2148990"/>
                </a:lnTo>
                <a:lnTo>
                  <a:pt x="0" y="2148990"/>
                </a:lnTo>
                <a:lnTo>
                  <a:pt x="0" y="0"/>
                </a:lnTo>
                <a:close/>
              </a:path>
            </a:pathLst>
          </a:custGeom>
          <a:blipFill rotWithShape="1">
            <a:blip r:embed="rId4">
              <a:alphaModFix/>
            </a:blip>
            <a:stretch>
              <a:fillRect/>
            </a:stretch>
          </a:blipFill>
          <a:ln>
            <a:noFill/>
          </a:ln>
        </p:spPr>
        <p:txBody>
          <a:bodyPr/>
          <a:lstStyle/>
          <a:p>
            <a:endParaRPr lang="hr-HR"/>
          </a:p>
        </p:txBody>
      </p:sp>
      <p:sp>
        <p:nvSpPr>
          <p:cNvPr id="210" name="Google Shape;210;p32"/>
          <p:cNvSpPr txBox="1"/>
          <p:nvPr/>
        </p:nvSpPr>
        <p:spPr>
          <a:xfrm rot="312848">
            <a:off x="6071081" y="2320156"/>
            <a:ext cx="2372800" cy="740747"/>
          </a:xfrm>
          <a:prstGeom prst="rect">
            <a:avLst/>
          </a:prstGeom>
          <a:noFill/>
          <a:ln>
            <a:noFill/>
          </a:ln>
        </p:spPr>
        <p:txBody>
          <a:bodyPr spcFirstLastPara="1" wrap="square" lIns="0" tIns="0" rIns="0" bIns="0" anchor="t" anchorCtr="0">
            <a:spAutoFit/>
          </a:bodyPr>
          <a:lstStyle/>
          <a:p>
            <a:pPr marL="0" marR="0" lvl="0" indent="0" algn="ctr" rtl="0">
              <a:lnSpc>
                <a:spcPct val="139990"/>
              </a:lnSpc>
              <a:spcBef>
                <a:spcPts val="0"/>
              </a:spcBef>
              <a:spcAft>
                <a:spcPts val="0"/>
              </a:spcAft>
              <a:buNone/>
            </a:pPr>
            <a:r>
              <a:rPr lang="hr" sz="1100" b="0" i="0" u="none" strike="noStrike" cap="none">
                <a:solidFill>
                  <a:srgbClr val="000000"/>
                </a:solidFill>
                <a:latin typeface="Arial"/>
                <a:ea typeface="Arial"/>
                <a:cs typeface="Arial"/>
                <a:sym typeface="Arial"/>
              </a:rPr>
              <a:t>Lorem ipsum dolor sit amet consectetur adipiscing elit, sociis eros varius volutpat porttitor mollis primis, facilisis quisque himenaeos lacinia ornare purus.</a:t>
            </a:r>
            <a:endParaRPr sz="700"/>
          </a:p>
        </p:txBody>
      </p:sp>
      <p:sp>
        <p:nvSpPr>
          <p:cNvPr id="211" name="Google Shape;211;p32"/>
          <p:cNvSpPr/>
          <p:nvPr/>
        </p:nvSpPr>
        <p:spPr>
          <a:xfrm rot="138627">
            <a:off x="4833106" y="3579287"/>
            <a:ext cx="3229358" cy="1074496"/>
          </a:xfrm>
          <a:custGeom>
            <a:avLst/>
            <a:gdLst/>
            <a:ahLst/>
            <a:cxnLst/>
            <a:rect l="l" t="t" r="r" b="b"/>
            <a:pathLst>
              <a:path w="6458716" h="2148991" extrusionOk="0">
                <a:moveTo>
                  <a:pt x="0" y="0"/>
                </a:moveTo>
                <a:lnTo>
                  <a:pt x="6458716" y="0"/>
                </a:lnTo>
                <a:lnTo>
                  <a:pt x="6458716" y="2148991"/>
                </a:lnTo>
                <a:lnTo>
                  <a:pt x="0" y="2148991"/>
                </a:lnTo>
                <a:lnTo>
                  <a:pt x="0" y="0"/>
                </a:lnTo>
                <a:close/>
              </a:path>
            </a:pathLst>
          </a:custGeom>
          <a:blipFill rotWithShape="1">
            <a:blip r:embed="rId4">
              <a:alphaModFix/>
            </a:blip>
            <a:stretch>
              <a:fillRect/>
            </a:stretch>
          </a:blipFill>
          <a:ln>
            <a:noFill/>
          </a:ln>
        </p:spPr>
        <p:txBody>
          <a:bodyPr/>
          <a:lstStyle/>
          <a:p>
            <a:endParaRPr lang="hr-HR"/>
          </a:p>
        </p:txBody>
      </p:sp>
      <p:sp>
        <p:nvSpPr>
          <p:cNvPr id="212" name="Google Shape;212;p32"/>
          <p:cNvSpPr txBox="1"/>
          <p:nvPr/>
        </p:nvSpPr>
        <p:spPr>
          <a:xfrm rot="138627">
            <a:off x="5448249" y="3743171"/>
            <a:ext cx="2372799" cy="740747"/>
          </a:xfrm>
          <a:prstGeom prst="rect">
            <a:avLst/>
          </a:prstGeom>
          <a:noFill/>
          <a:ln>
            <a:noFill/>
          </a:ln>
        </p:spPr>
        <p:txBody>
          <a:bodyPr spcFirstLastPara="1" wrap="square" lIns="0" tIns="0" rIns="0" bIns="0" anchor="t" anchorCtr="0">
            <a:spAutoFit/>
          </a:bodyPr>
          <a:lstStyle/>
          <a:p>
            <a:pPr marL="0" marR="0" lvl="0" indent="0" algn="ctr" rtl="0">
              <a:lnSpc>
                <a:spcPct val="139990"/>
              </a:lnSpc>
              <a:spcBef>
                <a:spcPts val="0"/>
              </a:spcBef>
              <a:spcAft>
                <a:spcPts val="0"/>
              </a:spcAft>
              <a:buNone/>
            </a:pPr>
            <a:r>
              <a:rPr lang="hr" sz="1100" b="0" i="0" u="none" strike="noStrike" cap="none">
                <a:solidFill>
                  <a:srgbClr val="000000"/>
                </a:solidFill>
                <a:latin typeface="Arial"/>
                <a:ea typeface="Arial"/>
                <a:cs typeface="Arial"/>
                <a:sym typeface="Arial"/>
              </a:rPr>
              <a:t>Lorem ipsum dolor sit amet consectetur adipiscing elit, sociis eros varius volutpat porttitor mollis primis, facilisis quisque himenaeos lacinia ornare purus.</a:t>
            </a:r>
            <a:endParaRPr sz="700"/>
          </a:p>
        </p:txBody>
      </p:sp>
      <p:sp>
        <p:nvSpPr>
          <p:cNvPr id="213" name="Google Shape;213;p32"/>
          <p:cNvSpPr txBox="1"/>
          <p:nvPr/>
        </p:nvSpPr>
        <p:spPr>
          <a:xfrm>
            <a:off x="841918" y="1594257"/>
            <a:ext cx="3640818" cy="2355777"/>
          </a:xfrm>
          <a:prstGeom prst="rect">
            <a:avLst/>
          </a:prstGeom>
          <a:noFill/>
          <a:ln>
            <a:noFill/>
          </a:ln>
        </p:spPr>
        <p:txBody>
          <a:bodyPr spcFirstLastPara="1" wrap="square" lIns="0" tIns="0" rIns="0" bIns="0" anchor="t" anchorCtr="0">
            <a:spAutoFit/>
          </a:bodyPr>
          <a:lstStyle/>
          <a:p>
            <a:pPr marL="0" marR="0" lvl="1" indent="0" algn="l" rtl="0">
              <a:lnSpc>
                <a:spcPct val="96999"/>
              </a:lnSpc>
              <a:spcBef>
                <a:spcPts val="0"/>
              </a:spcBef>
              <a:spcAft>
                <a:spcPts val="0"/>
              </a:spcAft>
              <a:buNone/>
            </a:pPr>
            <a:r>
              <a:rPr lang="hr" sz="1900" b="0" i="0" u="none" strike="noStrike" cap="none">
                <a:solidFill>
                  <a:srgbClr val="000000"/>
                </a:solidFill>
                <a:latin typeface="Arial"/>
                <a:ea typeface="Arial"/>
                <a:cs typeface="Arial"/>
                <a:sym typeface="Arial"/>
              </a:rPr>
              <a:t>Lorem ipsum dolor sit amet, consectetur adipiscing elit. Mauris sit amet vehicula est, semper semper dolor. Etiam porta pellentesque pretium. Aenean at rutrum nulla. Ut ultrices nulla quis felis tincidunt mattis. Nulla commodo arcu odio, vel rutrum diam euismod sit amet. Donec id dolor sit amet mi dictum porttitor.</a:t>
            </a:r>
            <a:endParaRPr sz="700"/>
          </a:p>
        </p:txBody>
      </p:sp>
      <p:sp>
        <p:nvSpPr>
          <p:cNvPr id="214" name="Google Shape;214;p32"/>
          <p:cNvSpPr txBox="1"/>
          <p:nvPr/>
        </p:nvSpPr>
        <p:spPr>
          <a:xfrm>
            <a:off x="841918" y="833225"/>
            <a:ext cx="3523366" cy="727694"/>
          </a:xfrm>
          <a:prstGeom prst="rect">
            <a:avLst/>
          </a:prstGeom>
          <a:noFill/>
          <a:ln>
            <a:noFill/>
          </a:ln>
        </p:spPr>
        <p:txBody>
          <a:bodyPr spcFirstLastPara="1" wrap="square" lIns="0" tIns="0" rIns="0" bIns="0" anchor="t" anchorCtr="0">
            <a:spAutoFit/>
          </a:bodyPr>
          <a:lstStyle/>
          <a:p>
            <a:pPr marL="0" marR="0" lvl="1" indent="0" algn="just" rtl="0">
              <a:lnSpc>
                <a:spcPct val="93000"/>
              </a:lnSpc>
              <a:spcBef>
                <a:spcPts val="0"/>
              </a:spcBef>
              <a:spcAft>
                <a:spcPts val="0"/>
              </a:spcAft>
              <a:buNone/>
            </a:pPr>
            <a:r>
              <a:rPr lang="hr" sz="5000" b="0" i="0" u="none" strike="noStrike" cap="none">
                <a:solidFill>
                  <a:srgbClr val="45384A"/>
                </a:solidFill>
                <a:latin typeface="Shadows Into Light"/>
                <a:ea typeface="Shadows Into Light"/>
                <a:cs typeface="Shadows Into Light"/>
                <a:sym typeface="Shadows Into Light"/>
              </a:rPr>
              <a:t>CARE</a:t>
            </a:r>
            <a:endParaRPr sz="700"/>
          </a:p>
        </p:txBody>
      </p:sp>
      <p:sp>
        <p:nvSpPr>
          <p:cNvPr id="215" name="Google Shape;215;p32"/>
          <p:cNvSpPr/>
          <p:nvPr/>
        </p:nvSpPr>
        <p:spPr>
          <a:xfrm>
            <a:off x="0" y="0"/>
            <a:ext cx="10835640" cy="51435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219" b="-9219"/>
            </a:stretch>
          </a:blipFill>
          <a:ln>
            <a:noFill/>
          </a:ln>
        </p:spPr>
        <p:txBody>
          <a:bodyPr/>
          <a:lstStyle/>
          <a:p>
            <a:endParaRPr lang="hr-HR"/>
          </a:p>
        </p:txBody>
      </p:sp>
      <p:sp>
        <p:nvSpPr>
          <p:cNvPr id="216" name="Google Shape;216;p32"/>
          <p:cNvSpPr/>
          <p:nvPr/>
        </p:nvSpPr>
        <p:spPr>
          <a:xfrm>
            <a:off x="152400" y="152400"/>
            <a:ext cx="10835640" cy="51435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219" b="-9219"/>
            </a:stretch>
          </a:blipFill>
          <a:ln>
            <a:noFill/>
          </a:ln>
        </p:spPr>
        <p:txBody>
          <a:bodyPr/>
          <a:lstStyle/>
          <a:p>
            <a:endParaRPr lang="hr-HR"/>
          </a:p>
        </p:txBody>
      </p:sp>
      <p:sp>
        <p:nvSpPr>
          <p:cNvPr id="217" name="Google Shape;217;p32"/>
          <p:cNvSpPr/>
          <p:nvPr/>
        </p:nvSpPr>
        <p:spPr>
          <a:xfrm>
            <a:off x="0" y="0"/>
            <a:ext cx="10835640" cy="51435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219" b="-9219"/>
            </a:stretch>
          </a:blipFill>
          <a:ln>
            <a:noFill/>
          </a:ln>
        </p:spPr>
        <p:txBody>
          <a:bodyPr/>
          <a:lstStyle/>
          <a:p>
            <a:endParaRPr lang="hr-HR"/>
          </a:p>
        </p:txBody>
      </p:sp>
      <p:sp>
        <p:nvSpPr>
          <p:cNvPr id="218" name="Google Shape;218;p32"/>
          <p:cNvSpPr txBox="1"/>
          <p:nvPr/>
        </p:nvSpPr>
        <p:spPr>
          <a:xfrm>
            <a:off x="841925" y="1455750"/>
            <a:ext cx="8071500" cy="2638800"/>
          </a:xfrm>
          <a:prstGeom prst="rect">
            <a:avLst/>
          </a:prstGeom>
          <a:noFill/>
          <a:ln>
            <a:noFill/>
          </a:ln>
        </p:spPr>
        <p:txBody>
          <a:bodyPr spcFirstLastPara="1" wrap="square" lIns="0" tIns="0" rIns="0" bIns="0" anchor="t" anchorCtr="0">
            <a:spAutoFit/>
          </a:bodyPr>
          <a:lstStyle/>
          <a:p>
            <a:pPr marL="0" marR="0" lvl="0" indent="0" algn="l" rtl="0">
              <a:lnSpc>
                <a:spcPct val="96999"/>
              </a:lnSpc>
              <a:spcBef>
                <a:spcPts val="0"/>
              </a:spcBef>
              <a:spcAft>
                <a:spcPts val="0"/>
              </a:spcAft>
              <a:buNone/>
            </a:pPr>
            <a:endParaRPr sz="1900"/>
          </a:p>
          <a:p>
            <a:pPr marL="457200" marR="0" lvl="0" indent="-342900" algn="l" rtl="0">
              <a:lnSpc>
                <a:spcPct val="150000"/>
              </a:lnSpc>
              <a:spcBef>
                <a:spcPts val="0"/>
              </a:spcBef>
              <a:spcAft>
                <a:spcPts val="0"/>
              </a:spcAft>
              <a:buClr>
                <a:srgbClr val="45384A"/>
              </a:buClr>
              <a:buSzPts val="1800"/>
              <a:buChar char="●"/>
            </a:pPr>
            <a:r>
              <a:rPr lang="hr" sz="1800">
                <a:solidFill>
                  <a:srgbClr val="45384A"/>
                </a:solidFill>
              </a:rPr>
              <a:t>based on EfficientNet-B0 with compound scaling (depth, width, resolution)</a:t>
            </a:r>
            <a:endParaRPr sz="1800">
              <a:solidFill>
                <a:srgbClr val="45384A"/>
              </a:solidFill>
            </a:endParaRPr>
          </a:p>
          <a:p>
            <a:pPr marL="457200" marR="0" lvl="0" indent="-342900" algn="l" rtl="0">
              <a:lnSpc>
                <a:spcPct val="150000"/>
              </a:lnSpc>
              <a:spcBef>
                <a:spcPts val="0"/>
              </a:spcBef>
              <a:spcAft>
                <a:spcPts val="0"/>
              </a:spcAft>
              <a:buClr>
                <a:srgbClr val="45384A"/>
              </a:buClr>
              <a:buSzPts val="1800"/>
              <a:buChar char="●"/>
            </a:pPr>
            <a:r>
              <a:rPr lang="hr" sz="1800">
                <a:solidFill>
                  <a:srgbClr val="45384A"/>
                </a:solidFill>
              </a:rPr>
              <a:t>architecture: initial conv → </a:t>
            </a:r>
            <a:r>
              <a:rPr lang="hr" sz="1800" b="1">
                <a:solidFill>
                  <a:srgbClr val="45384A"/>
                </a:solidFill>
              </a:rPr>
              <a:t>MBConv blocks</a:t>
            </a:r>
            <a:r>
              <a:rPr lang="hr" sz="1800">
                <a:solidFill>
                  <a:srgbClr val="45384A"/>
                </a:solidFill>
              </a:rPr>
              <a:t> → final conv</a:t>
            </a:r>
            <a:endParaRPr sz="1800">
              <a:solidFill>
                <a:srgbClr val="45384A"/>
              </a:solidFill>
            </a:endParaRPr>
          </a:p>
          <a:p>
            <a:pPr marL="457200" marR="0" lvl="0" indent="-342900" algn="l" rtl="0">
              <a:lnSpc>
                <a:spcPct val="150000"/>
              </a:lnSpc>
              <a:spcBef>
                <a:spcPts val="0"/>
              </a:spcBef>
              <a:spcAft>
                <a:spcPts val="0"/>
              </a:spcAft>
              <a:buClr>
                <a:srgbClr val="45384A"/>
              </a:buClr>
              <a:buSzPts val="1800"/>
              <a:buChar char="●"/>
            </a:pPr>
            <a:r>
              <a:rPr lang="hr" sz="1800">
                <a:solidFill>
                  <a:srgbClr val="45384A"/>
                </a:solidFill>
              </a:rPr>
              <a:t>all layers unfrozen for fine-tuning on MRI images</a:t>
            </a:r>
            <a:endParaRPr sz="1800">
              <a:solidFill>
                <a:srgbClr val="45384A"/>
              </a:solidFill>
            </a:endParaRPr>
          </a:p>
          <a:p>
            <a:pPr marL="457200" marR="0" lvl="0" indent="-342900" algn="l" rtl="0">
              <a:lnSpc>
                <a:spcPct val="150000"/>
              </a:lnSpc>
              <a:spcBef>
                <a:spcPts val="0"/>
              </a:spcBef>
              <a:spcAft>
                <a:spcPts val="0"/>
              </a:spcAft>
              <a:buClr>
                <a:srgbClr val="45384A"/>
              </a:buClr>
              <a:buSzPts val="1800"/>
              <a:buChar char="●"/>
            </a:pPr>
            <a:r>
              <a:rPr lang="hr" sz="1800">
                <a:solidFill>
                  <a:srgbClr val="45384A"/>
                </a:solidFill>
              </a:rPr>
              <a:t>custom head: 256 neuron FC layer, L1 + L2 regularization, dropout </a:t>
            </a:r>
            <a:r>
              <a:rPr lang="hr" sz="1800" b="1">
                <a:solidFill>
                  <a:srgbClr val="45384A"/>
                </a:solidFill>
              </a:rPr>
              <a:t>45%</a:t>
            </a:r>
            <a:r>
              <a:rPr lang="hr" sz="1800">
                <a:solidFill>
                  <a:srgbClr val="45384A"/>
                </a:solidFill>
              </a:rPr>
              <a:t>, softmax output</a:t>
            </a:r>
            <a:endParaRPr sz="1800">
              <a:solidFill>
                <a:srgbClr val="45384A"/>
              </a:solidFill>
            </a:endParaRPr>
          </a:p>
          <a:p>
            <a:pPr marL="457200" marR="0" lvl="0" indent="-342900" algn="l" rtl="0">
              <a:lnSpc>
                <a:spcPct val="150000"/>
              </a:lnSpc>
              <a:spcBef>
                <a:spcPts val="0"/>
              </a:spcBef>
              <a:spcAft>
                <a:spcPts val="0"/>
              </a:spcAft>
              <a:buClr>
                <a:srgbClr val="45384A"/>
              </a:buClr>
              <a:buSzPts val="1800"/>
              <a:buChar char="●"/>
            </a:pPr>
            <a:r>
              <a:rPr lang="hr" sz="1800">
                <a:solidFill>
                  <a:srgbClr val="45384A"/>
                </a:solidFill>
              </a:rPr>
              <a:t>input scaled to 224x224 pixels</a:t>
            </a:r>
            <a:endParaRPr sz="1800">
              <a:solidFill>
                <a:srgbClr val="45384A"/>
              </a:solidFill>
            </a:endParaRPr>
          </a:p>
        </p:txBody>
      </p:sp>
      <p:sp>
        <p:nvSpPr>
          <p:cNvPr id="219" name="Google Shape;219;p32"/>
          <p:cNvSpPr txBox="1"/>
          <p:nvPr/>
        </p:nvSpPr>
        <p:spPr>
          <a:xfrm>
            <a:off x="841918" y="461775"/>
            <a:ext cx="4683900" cy="715800"/>
          </a:xfrm>
          <a:prstGeom prst="rect">
            <a:avLst/>
          </a:prstGeom>
          <a:noFill/>
          <a:ln>
            <a:noFill/>
          </a:ln>
        </p:spPr>
        <p:txBody>
          <a:bodyPr spcFirstLastPara="1" wrap="square" lIns="0" tIns="0" rIns="0" bIns="0" anchor="t" anchorCtr="0">
            <a:spAutoFit/>
          </a:bodyPr>
          <a:lstStyle/>
          <a:p>
            <a:pPr marL="0" marR="0" lvl="1" indent="0" algn="just" rtl="0">
              <a:lnSpc>
                <a:spcPct val="93000"/>
              </a:lnSpc>
              <a:spcBef>
                <a:spcPts val="0"/>
              </a:spcBef>
              <a:spcAft>
                <a:spcPts val="0"/>
              </a:spcAft>
              <a:buNone/>
            </a:pPr>
            <a:r>
              <a:rPr lang="hr" sz="5000">
                <a:solidFill>
                  <a:srgbClr val="45384A"/>
                </a:solidFill>
                <a:latin typeface="Shadows Into Light"/>
                <a:ea typeface="Shadows Into Light"/>
                <a:cs typeface="Shadows Into Light"/>
                <a:sym typeface="Shadows Into Light"/>
              </a:rPr>
              <a:t>EfficientNet-B3</a:t>
            </a:r>
            <a:endParaRPr sz="7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3"/>
          <p:cNvSpPr/>
          <p:nvPr/>
        </p:nvSpPr>
        <p:spPr>
          <a:xfrm>
            <a:off x="0" y="0"/>
            <a:ext cx="10835640" cy="51435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219" b="-9219"/>
            </a:stretch>
          </a:blipFill>
          <a:ln>
            <a:noFill/>
          </a:ln>
        </p:spPr>
        <p:txBody>
          <a:bodyPr/>
          <a:lstStyle/>
          <a:p>
            <a:endParaRPr lang="hr-HR"/>
          </a:p>
        </p:txBody>
      </p:sp>
      <p:sp>
        <p:nvSpPr>
          <p:cNvPr id="225" name="Google Shape;225;p33"/>
          <p:cNvSpPr txBox="1"/>
          <p:nvPr/>
        </p:nvSpPr>
        <p:spPr>
          <a:xfrm>
            <a:off x="841925" y="1449450"/>
            <a:ext cx="7889400" cy="2793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endParaRPr sz="1900"/>
          </a:p>
          <a:p>
            <a:pPr marL="457200" marR="0" lvl="0" indent="-342900" algn="l" rtl="0">
              <a:lnSpc>
                <a:spcPct val="150000"/>
              </a:lnSpc>
              <a:spcBef>
                <a:spcPts val="0"/>
              </a:spcBef>
              <a:spcAft>
                <a:spcPts val="0"/>
              </a:spcAft>
              <a:buClr>
                <a:srgbClr val="45384A"/>
              </a:buClr>
              <a:buSzPts val="1800"/>
              <a:buChar char="●"/>
            </a:pPr>
            <a:r>
              <a:rPr lang="hr" sz="1800">
                <a:solidFill>
                  <a:srgbClr val="45384A"/>
                </a:solidFill>
              </a:rPr>
              <a:t>implemented in PyTorch, no pretrained weights</a:t>
            </a:r>
            <a:endParaRPr sz="1800">
              <a:solidFill>
                <a:srgbClr val="45384A"/>
              </a:solidFill>
            </a:endParaRPr>
          </a:p>
          <a:p>
            <a:pPr marL="457200" marR="0" lvl="0" indent="-342900" algn="l" rtl="0">
              <a:lnSpc>
                <a:spcPct val="150000"/>
              </a:lnSpc>
              <a:spcBef>
                <a:spcPts val="0"/>
              </a:spcBef>
              <a:spcAft>
                <a:spcPts val="0"/>
              </a:spcAft>
              <a:buClr>
                <a:srgbClr val="45384A"/>
              </a:buClr>
              <a:buSzPts val="1800"/>
              <a:buChar char="●"/>
            </a:pPr>
            <a:r>
              <a:rPr lang="hr" sz="1800">
                <a:solidFill>
                  <a:srgbClr val="45384A"/>
                </a:solidFill>
              </a:rPr>
              <a:t>inspired by EfficientNet: uses </a:t>
            </a:r>
            <a:r>
              <a:rPr lang="hr" sz="1800" b="1">
                <a:solidFill>
                  <a:srgbClr val="45384A"/>
                </a:solidFill>
              </a:rPr>
              <a:t>MBConv blocks + SE mechanism</a:t>
            </a:r>
            <a:endParaRPr sz="1800" b="1">
              <a:solidFill>
                <a:srgbClr val="45384A"/>
              </a:solidFill>
            </a:endParaRPr>
          </a:p>
          <a:p>
            <a:pPr marL="457200" marR="0" lvl="0" indent="-342900" algn="l" rtl="0">
              <a:lnSpc>
                <a:spcPct val="150000"/>
              </a:lnSpc>
              <a:spcBef>
                <a:spcPts val="0"/>
              </a:spcBef>
              <a:spcAft>
                <a:spcPts val="0"/>
              </a:spcAft>
              <a:buClr>
                <a:srgbClr val="45384A"/>
              </a:buClr>
              <a:buSzPts val="1800"/>
              <a:buChar char="●"/>
            </a:pPr>
            <a:r>
              <a:rPr lang="hr" sz="1800">
                <a:solidFill>
                  <a:srgbClr val="45384A"/>
                </a:solidFill>
              </a:rPr>
              <a:t>input scaled with data </a:t>
            </a:r>
            <a:r>
              <a:rPr lang="hr" sz="1800" b="1">
                <a:solidFill>
                  <a:srgbClr val="45384A"/>
                </a:solidFill>
              </a:rPr>
              <a:t>augmentation</a:t>
            </a:r>
            <a:r>
              <a:rPr lang="hr" sz="1800">
                <a:solidFill>
                  <a:srgbClr val="45384A"/>
                </a:solidFill>
              </a:rPr>
              <a:t> (flip, ± 10° rotation)</a:t>
            </a:r>
            <a:endParaRPr sz="1800">
              <a:solidFill>
                <a:srgbClr val="45384A"/>
              </a:solidFill>
            </a:endParaRPr>
          </a:p>
          <a:p>
            <a:pPr marL="457200" marR="0" lvl="0" indent="-342900" algn="l" rtl="0">
              <a:lnSpc>
                <a:spcPct val="150000"/>
              </a:lnSpc>
              <a:spcBef>
                <a:spcPts val="0"/>
              </a:spcBef>
              <a:spcAft>
                <a:spcPts val="0"/>
              </a:spcAft>
              <a:buClr>
                <a:srgbClr val="45384A"/>
              </a:buClr>
              <a:buSzPts val="1800"/>
              <a:buChar char="●"/>
            </a:pPr>
            <a:r>
              <a:rPr lang="hr" sz="1800">
                <a:solidFill>
                  <a:srgbClr val="45384A"/>
                </a:solidFill>
              </a:rPr>
              <a:t>training: CrossEntropy Loss, Adam optimizer (lr=0,0003), 15 epochs</a:t>
            </a:r>
            <a:endParaRPr sz="1800">
              <a:solidFill>
                <a:srgbClr val="45384A"/>
              </a:solidFill>
            </a:endParaRPr>
          </a:p>
          <a:p>
            <a:pPr marL="457200" marR="0" lvl="0" indent="-342900" algn="l" rtl="0">
              <a:lnSpc>
                <a:spcPct val="150000"/>
              </a:lnSpc>
              <a:spcBef>
                <a:spcPts val="0"/>
              </a:spcBef>
              <a:spcAft>
                <a:spcPts val="0"/>
              </a:spcAft>
              <a:buClr>
                <a:srgbClr val="45384A"/>
              </a:buClr>
              <a:buSzPts val="1800"/>
              <a:buChar char="●"/>
            </a:pPr>
            <a:r>
              <a:rPr lang="hr" sz="1800">
                <a:solidFill>
                  <a:srgbClr val="45384A"/>
                </a:solidFill>
              </a:rPr>
              <a:t>balances hierarchical feature extraction with moderate depth and complexity</a:t>
            </a:r>
            <a:endParaRPr sz="1800">
              <a:solidFill>
                <a:srgbClr val="45384A"/>
              </a:solidFill>
            </a:endParaRPr>
          </a:p>
        </p:txBody>
      </p:sp>
      <p:sp>
        <p:nvSpPr>
          <p:cNvPr id="226" name="Google Shape;226;p33"/>
          <p:cNvSpPr txBox="1"/>
          <p:nvPr/>
        </p:nvSpPr>
        <p:spPr>
          <a:xfrm>
            <a:off x="841927" y="461775"/>
            <a:ext cx="6090600" cy="715800"/>
          </a:xfrm>
          <a:prstGeom prst="rect">
            <a:avLst/>
          </a:prstGeom>
          <a:noFill/>
          <a:ln>
            <a:noFill/>
          </a:ln>
        </p:spPr>
        <p:txBody>
          <a:bodyPr spcFirstLastPara="1" wrap="square" lIns="0" tIns="0" rIns="0" bIns="0" anchor="t" anchorCtr="0">
            <a:spAutoFit/>
          </a:bodyPr>
          <a:lstStyle/>
          <a:p>
            <a:pPr marL="0" marR="0" lvl="1" indent="0" algn="just" rtl="0">
              <a:lnSpc>
                <a:spcPct val="93000"/>
              </a:lnSpc>
              <a:spcBef>
                <a:spcPts val="0"/>
              </a:spcBef>
              <a:spcAft>
                <a:spcPts val="0"/>
              </a:spcAft>
              <a:buNone/>
            </a:pPr>
            <a:r>
              <a:rPr lang="hr" sz="5000">
                <a:solidFill>
                  <a:srgbClr val="45384A"/>
                </a:solidFill>
                <a:latin typeface="Shadows Into Light"/>
                <a:ea typeface="Shadows Into Light"/>
                <a:cs typeface="Shadows Into Light"/>
                <a:sym typeface="Shadows Into Light"/>
              </a:rPr>
              <a:t>Simplified EfficientNet </a:t>
            </a:r>
            <a:endParaRPr sz="7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4"/>
          <p:cNvSpPr/>
          <p:nvPr/>
        </p:nvSpPr>
        <p:spPr>
          <a:xfrm>
            <a:off x="0" y="0"/>
            <a:ext cx="10835640" cy="51435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219" b="-9219"/>
            </a:stretch>
          </a:blipFill>
          <a:ln>
            <a:noFill/>
          </a:ln>
        </p:spPr>
        <p:txBody>
          <a:bodyPr/>
          <a:lstStyle/>
          <a:p>
            <a:endParaRPr lang="hr-HR"/>
          </a:p>
        </p:txBody>
      </p:sp>
      <p:sp>
        <p:nvSpPr>
          <p:cNvPr id="232" name="Google Shape;232;p34"/>
          <p:cNvSpPr txBox="1"/>
          <p:nvPr/>
        </p:nvSpPr>
        <p:spPr>
          <a:xfrm>
            <a:off x="2230051" y="496680"/>
            <a:ext cx="4683900" cy="715800"/>
          </a:xfrm>
          <a:prstGeom prst="rect">
            <a:avLst/>
          </a:prstGeom>
          <a:noFill/>
          <a:ln>
            <a:noFill/>
          </a:ln>
        </p:spPr>
        <p:txBody>
          <a:bodyPr spcFirstLastPara="1" wrap="square" lIns="0" tIns="0" rIns="0" bIns="0" anchor="t" anchorCtr="0">
            <a:spAutoFit/>
          </a:bodyPr>
          <a:lstStyle/>
          <a:p>
            <a:pPr marL="0" marR="0" lvl="1" indent="0" algn="ctr" rtl="0">
              <a:lnSpc>
                <a:spcPct val="93000"/>
              </a:lnSpc>
              <a:spcBef>
                <a:spcPts val="0"/>
              </a:spcBef>
              <a:spcAft>
                <a:spcPts val="0"/>
              </a:spcAft>
              <a:buNone/>
            </a:pPr>
            <a:r>
              <a:rPr lang="hr" sz="5000" b="0" i="0" u="none" strike="noStrike" cap="none">
                <a:solidFill>
                  <a:srgbClr val="45384A"/>
                </a:solidFill>
                <a:latin typeface="Shadows Into Light"/>
                <a:ea typeface="Shadows Into Light"/>
                <a:cs typeface="Shadows Into Light"/>
                <a:sym typeface="Shadows Into Light"/>
              </a:rPr>
              <a:t>RESULTS</a:t>
            </a:r>
            <a:endParaRPr sz="700"/>
          </a:p>
        </p:txBody>
      </p:sp>
      <p:sp>
        <p:nvSpPr>
          <p:cNvPr id="233" name="Google Shape;233;p34"/>
          <p:cNvSpPr/>
          <p:nvPr/>
        </p:nvSpPr>
        <p:spPr>
          <a:xfrm>
            <a:off x="672750" y="1533425"/>
            <a:ext cx="7798500" cy="3119400"/>
          </a:xfrm>
          <a:prstGeom prst="roundRect">
            <a:avLst>
              <a:gd name="adj" fmla="val 16667"/>
            </a:avLst>
          </a:prstGeom>
          <a:solidFill>
            <a:srgbClr val="FFB9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graphicFrame>
        <p:nvGraphicFramePr>
          <p:cNvPr id="234" name="Google Shape;234;p34"/>
          <p:cNvGraphicFramePr/>
          <p:nvPr/>
        </p:nvGraphicFramePr>
        <p:xfrm>
          <a:off x="952500" y="1797850"/>
          <a:ext cx="3000000" cy="3000000"/>
        </p:xfrm>
        <a:graphic>
          <a:graphicData uri="http://schemas.openxmlformats.org/drawingml/2006/table">
            <a:tbl>
              <a:tblPr>
                <a:noFill/>
                <a:tableStyleId>{33D4270D-3DB1-4DCB-BA52-5C6B93564B46}</a:tableStyleId>
              </a:tblPr>
              <a:tblGrid>
                <a:gridCol w="180975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tblGrid>
              <a:tr h="381000">
                <a:tc rowSpan="2">
                  <a:txBody>
                    <a:bodyPr/>
                    <a:lstStyle/>
                    <a:p>
                      <a:pPr marL="0" lvl="0" indent="0" algn="ctr" rtl="0">
                        <a:spcBef>
                          <a:spcPts val="0"/>
                        </a:spcBef>
                        <a:spcAft>
                          <a:spcPts val="0"/>
                        </a:spcAft>
                        <a:buNone/>
                      </a:pPr>
                      <a:br>
                        <a:rPr lang="hr" b="1">
                          <a:solidFill>
                            <a:srgbClr val="45384A"/>
                          </a:solidFill>
                        </a:rPr>
                      </a:br>
                      <a:r>
                        <a:rPr lang="hr" b="1">
                          <a:solidFill>
                            <a:srgbClr val="45384A"/>
                          </a:solidFill>
                        </a:rPr>
                        <a:t>Evaluation </a:t>
                      </a:r>
                      <a:endParaRPr b="1">
                        <a:solidFill>
                          <a:srgbClr val="45384A"/>
                        </a:solidFill>
                      </a:endParaRPr>
                    </a:p>
                    <a:p>
                      <a:pPr marL="0" lvl="0" indent="0" algn="ctr" rtl="0">
                        <a:spcBef>
                          <a:spcPts val="0"/>
                        </a:spcBef>
                        <a:spcAft>
                          <a:spcPts val="0"/>
                        </a:spcAft>
                        <a:buNone/>
                      </a:pPr>
                      <a:r>
                        <a:rPr lang="hr" b="1">
                          <a:solidFill>
                            <a:srgbClr val="45384A"/>
                          </a:solidFill>
                        </a:rPr>
                        <a:t>metric</a:t>
                      </a:r>
                      <a:endParaRPr b="1">
                        <a:solidFill>
                          <a:srgbClr val="45384A"/>
                        </a:solidFill>
                      </a:endParaRPr>
                    </a:p>
                  </a:txBody>
                  <a:tcPr marL="91425" marR="91425" marT="91425" marB="91425">
                    <a:noFill/>
                  </a:tcPr>
                </a:tc>
                <a:tc gridSpan="3">
                  <a:txBody>
                    <a:bodyPr/>
                    <a:lstStyle/>
                    <a:p>
                      <a:pPr marL="0" lvl="0" indent="0" algn="ctr" rtl="0">
                        <a:spcBef>
                          <a:spcPts val="0"/>
                        </a:spcBef>
                        <a:spcAft>
                          <a:spcPts val="0"/>
                        </a:spcAft>
                        <a:buNone/>
                      </a:pPr>
                      <a:r>
                        <a:rPr lang="hr" b="1">
                          <a:solidFill>
                            <a:srgbClr val="45384A"/>
                          </a:solidFill>
                        </a:rPr>
                        <a:t>Model</a:t>
                      </a:r>
                      <a:endParaRPr b="1">
                        <a:solidFill>
                          <a:srgbClr val="45384A"/>
                        </a:solidFill>
                      </a:endParaRPr>
                    </a:p>
                  </a:txBody>
                  <a:tcPr marL="91425" marR="91425" marT="91425" marB="91425">
                    <a:noFill/>
                  </a:tcPr>
                </a:tc>
                <a:tc hMerge="1">
                  <a:txBody>
                    <a:bodyPr/>
                    <a:lstStyle/>
                    <a:p>
                      <a:endParaRPr lang="sr-Latn-RS"/>
                    </a:p>
                  </a:txBody>
                  <a:tcPr/>
                </a:tc>
                <a:tc hMerge="1">
                  <a:txBody>
                    <a:bodyPr/>
                    <a:lstStyle/>
                    <a:p>
                      <a:endParaRPr lang="sr-Latn-RS"/>
                    </a:p>
                  </a:txBody>
                  <a:tcPr/>
                </a:tc>
                <a:extLst>
                  <a:ext uri="{0D108BD9-81ED-4DB2-BD59-A6C34878D82A}">
                    <a16:rowId xmlns:a16="http://schemas.microsoft.com/office/drawing/2014/main" val="10000"/>
                  </a:ext>
                </a:extLst>
              </a:tr>
              <a:tr h="381000">
                <a:tc vMerge="1">
                  <a:txBody>
                    <a:bodyPr/>
                    <a:lstStyle/>
                    <a:p>
                      <a:endParaRPr lang="sr-Latn-RS"/>
                    </a:p>
                  </a:txBody>
                  <a:tcPr/>
                </a:tc>
                <a:tc>
                  <a:txBody>
                    <a:bodyPr/>
                    <a:lstStyle/>
                    <a:p>
                      <a:pPr marL="0" lvl="0" indent="0" algn="ctr" rtl="0">
                        <a:spcBef>
                          <a:spcPts val="0"/>
                        </a:spcBef>
                        <a:spcAft>
                          <a:spcPts val="0"/>
                        </a:spcAft>
                        <a:buNone/>
                      </a:pPr>
                      <a:r>
                        <a:rPr lang="hr" u="sng">
                          <a:solidFill>
                            <a:srgbClr val="45384A"/>
                          </a:solidFill>
                        </a:rPr>
                        <a:t>First CNN model</a:t>
                      </a:r>
                      <a:endParaRPr u="sng">
                        <a:solidFill>
                          <a:srgbClr val="45384A"/>
                        </a:solidFill>
                      </a:endParaRPr>
                    </a:p>
                  </a:txBody>
                  <a:tcPr marL="91425" marR="91425" marT="91425" marB="91425" anchor="ctr">
                    <a:noFill/>
                  </a:tcPr>
                </a:tc>
                <a:tc>
                  <a:txBody>
                    <a:bodyPr/>
                    <a:lstStyle/>
                    <a:p>
                      <a:pPr marL="0" lvl="0" indent="0" algn="ctr" rtl="0">
                        <a:spcBef>
                          <a:spcPts val="0"/>
                        </a:spcBef>
                        <a:spcAft>
                          <a:spcPts val="0"/>
                        </a:spcAft>
                        <a:buNone/>
                      </a:pPr>
                      <a:r>
                        <a:rPr lang="hr" u="sng">
                          <a:solidFill>
                            <a:srgbClr val="45384A"/>
                          </a:solidFill>
                        </a:rPr>
                        <a:t>Simplified EfficientNet model</a:t>
                      </a:r>
                      <a:endParaRPr u="sng">
                        <a:solidFill>
                          <a:srgbClr val="45384A"/>
                        </a:solidFill>
                      </a:endParaRPr>
                    </a:p>
                  </a:txBody>
                  <a:tcPr marL="91425" marR="91425" marT="91425" marB="91425" anchor="ctr">
                    <a:noFill/>
                  </a:tcPr>
                </a:tc>
                <a:tc>
                  <a:txBody>
                    <a:bodyPr/>
                    <a:lstStyle/>
                    <a:p>
                      <a:pPr marL="0" lvl="0" indent="0" algn="ctr" rtl="0">
                        <a:spcBef>
                          <a:spcPts val="0"/>
                        </a:spcBef>
                        <a:spcAft>
                          <a:spcPts val="0"/>
                        </a:spcAft>
                        <a:buNone/>
                      </a:pPr>
                      <a:r>
                        <a:rPr lang="hr" u="sng">
                          <a:solidFill>
                            <a:srgbClr val="45384A"/>
                          </a:solidFill>
                        </a:rPr>
                        <a:t>EfficientNet-B3</a:t>
                      </a:r>
                      <a:endParaRPr u="sng">
                        <a:solidFill>
                          <a:srgbClr val="45384A"/>
                        </a:solidFill>
                      </a:endParaRPr>
                    </a:p>
                  </a:txBody>
                  <a:tcPr marL="91425" marR="91425" marT="91425" marB="91425" anchor="ctr">
                    <a:noFill/>
                  </a:tcP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hr">
                          <a:solidFill>
                            <a:srgbClr val="45384A"/>
                          </a:solidFill>
                        </a:rPr>
                        <a:t>Accuracy</a:t>
                      </a:r>
                      <a:endParaRPr>
                        <a:solidFill>
                          <a:srgbClr val="45384A"/>
                        </a:solidFill>
                      </a:endParaRPr>
                    </a:p>
                  </a:txBody>
                  <a:tcPr marL="91425" marR="91425" marT="91425" marB="91425">
                    <a:noFill/>
                  </a:tcPr>
                </a:tc>
                <a:tc>
                  <a:txBody>
                    <a:bodyPr/>
                    <a:lstStyle/>
                    <a:p>
                      <a:pPr marL="0" lvl="0" indent="0" algn="ctr" rtl="0">
                        <a:spcBef>
                          <a:spcPts val="0"/>
                        </a:spcBef>
                        <a:spcAft>
                          <a:spcPts val="0"/>
                        </a:spcAft>
                        <a:buNone/>
                      </a:pPr>
                      <a:r>
                        <a:rPr lang="hr">
                          <a:solidFill>
                            <a:srgbClr val="45384A"/>
                          </a:solidFill>
                        </a:rPr>
                        <a:t>0.9077 </a:t>
                      </a:r>
                      <a:endParaRPr>
                        <a:solidFill>
                          <a:srgbClr val="45384A"/>
                        </a:solidFill>
                      </a:endParaRPr>
                    </a:p>
                  </a:txBody>
                  <a:tcPr marL="91425" marR="91425" marT="91425" marB="91425" anchor="ctr">
                    <a:noFill/>
                  </a:tcPr>
                </a:tc>
                <a:tc>
                  <a:txBody>
                    <a:bodyPr/>
                    <a:lstStyle/>
                    <a:p>
                      <a:pPr marL="0" lvl="0" indent="0" algn="ctr" rtl="0">
                        <a:spcBef>
                          <a:spcPts val="0"/>
                        </a:spcBef>
                        <a:spcAft>
                          <a:spcPts val="0"/>
                        </a:spcAft>
                        <a:buClr>
                          <a:schemeClr val="dk1"/>
                        </a:buClr>
                        <a:buSzPts val="1100"/>
                        <a:buFont typeface="Arial"/>
                        <a:buNone/>
                      </a:pPr>
                      <a:r>
                        <a:rPr lang="hr">
                          <a:solidFill>
                            <a:srgbClr val="45384A"/>
                          </a:solidFill>
                        </a:rPr>
                        <a:t>0.9680 </a:t>
                      </a:r>
                      <a:endParaRPr>
                        <a:solidFill>
                          <a:srgbClr val="45384A"/>
                        </a:solidFill>
                      </a:endParaRPr>
                    </a:p>
                  </a:txBody>
                  <a:tcPr marL="91425" marR="91425" marT="91425" marB="91425" anchor="ctr">
                    <a:noFill/>
                  </a:tcPr>
                </a:tc>
                <a:tc>
                  <a:txBody>
                    <a:bodyPr/>
                    <a:lstStyle/>
                    <a:p>
                      <a:pPr marL="0" lvl="0" indent="0" algn="ctr" rtl="0">
                        <a:spcBef>
                          <a:spcPts val="0"/>
                        </a:spcBef>
                        <a:spcAft>
                          <a:spcPts val="0"/>
                        </a:spcAft>
                        <a:buClr>
                          <a:schemeClr val="dk1"/>
                        </a:buClr>
                        <a:buSzPts val="1100"/>
                        <a:buFont typeface="Arial"/>
                        <a:buNone/>
                      </a:pPr>
                      <a:r>
                        <a:rPr lang="hr">
                          <a:solidFill>
                            <a:srgbClr val="45384A"/>
                          </a:solidFill>
                        </a:rPr>
                        <a:t> 0.9870</a:t>
                      </a:r>
                      <a:endParaRPr>
                        <a:solidFill>
                          <a:srgbClr val="45384A"/>
                        </a:solidFill>
                      </a:endParaRPr>
                    </a:p>
                  </a:txBody>
                  <a:tcPr marL="91425" marR="91425" marT="91425" marB="91425" anchor="ctr">
                    <a:noFill/>
                  </a:tcPr>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r>
                        <a:rPr lang="hr">
                          <a:solidFill>
                            <a:srgbClr val="45384A"/>
                          </a:solidFill>
                        </a:rPr>
                        <a:t>Precision</a:t>
                      </a:r>
                      <a:endParaRPr>
                        <a:solidFill>
                          <a:srgbClr val="45384A"/>
                        </a:solidFill>
                      </a:endParaRPr>
                    </a:p>
                  </a:txBody>
                  <a:tcPr marL="91425" marR="91425" marT="91425" marB="91425">
                    <a:noFill/>
                  </a:tcPr>
                </a:tc>
                <a:tc>
                  <a:txBody>
                    <a:bodyPr/>
                    <a:lstStyle/>
                    <a:p>
                      <a:pPr marL="0" lvl="0" indent="0" algn="ctr" rtl="0">
                        <a:spcBef>
                          <a:spcPts val="0"/>
                        </a:spcBef>
                        <a:spcAft>
                          <a:spcPts val="0"/>
                        </a:spcAft>
                        <a:buNone/>
                      </a:pPr>
                      <a:r>
                        <a:rPr lang="hr">
                          <a:solidFill>
                            <a:srgbClr val="45384A"/>
                          </a:solidFill>
                        </a:rPr>
                        <a:t>0.9093</a:t>
                      </a:r>
                      <a:endParaRPr>
                        <a:solidFill>
                          <a:srgbClr val="45384A"/>
                        </a:solidFill>
                      </a:endParaRPr>
                    </a:p>
                  </a:txBody>
                  <a:tcPr marL="91425" marR="91425" marT="91425" marB="91425" anchor="ctr">
                    <a:noFill/>
                  </a:tcPr>
                </a:tc>
                <a:tc>
                  <a:txBody>
                    <a:bodyPr/>
                    <a:lstStyle/>
                    <a:p>
                      <a:pPr marL="0" lvl="0" indent="0" algn="ctr" rtl="0">
                        <a:spcBef>
                          <a:spcPts val="0"/>
                        </a:spcBef>
                        <a:spcAft>
                          <a:spcPts val="0"/>
                        </a:spcAft>
                        <a:buClr>
                          <a:schemeClr val="dk1"/>
                        </a:buClr>
                        <a:buSzPts val="1100"/>
                        <a:buFont typeface="Arial"/>
                        <a:buNone/>
                      </a:pPr>
                      <a:r>
                        <a:rPr lang="hr">
                          <a:solidFill>
                            <a:srgbClr val="45384A"/>
                          </a:solidFill>
                        </a:rPr>
                        <a:t>0.9672 </a:t>
                      </a:r>
                      <a:endParaRPr>
                        <a:solidFill>
                          <a:srgbClr val="45384A"/>
                        </a:solidFill>
                      </a:endParaRPr>
                    </a:p>
                  </a:txBody>
                  <a:tcPr marL="91425" marR="91425" marT="91425" marB="91425" anchor="ctr">
                    <a:noFill/>
                  </a:tcPr>
                </a:tc>
                <a:tc>
                  <a:txBody>
                    <a:bodyPr/>
                    <a:lstStyle/>
                    <a:p>
                      <a:pPr marL="0" lvl="0" indent="0" algn="ctr" rtl="0">
                        <a:spcBef>
                          <a:spcPts val="0"/>
                        </a:spcBef>
                        <a:spcAft>
                          <a:spcPts val="0"/>
                        </a:spcAft>
                        <a:buClr>
                          <a:schemeClr val="dk1"/>
                        </a:buClr>
                        <a:buSzPts val="1100"/>
                        <a:buFont typeface="Arial"/>
                        <a:buNone/>
                      </a:pPr>
                      <a:r>
                        <a:rPr lang="hr">
                          <a:solidFill>
                            <a:srgbClr val="45384A"/>
                          </a:solidFill>
                        </a:rPr>
                        <a:t> 0.9868</a:t>
                      </a:r>
                      <a:endParaRPr>
                        <a:solidFill>
                          <a:srgbClr val="45384A"/>
                        </a:solidFill>
                      </a:endParaRPr>
                    </a:p>
                  </a:txBody>
                  <a:tcPr marL="91425" marR="91425" marT="91425" marB="91425" anchor="ctr">
                    <a:noFill/>
                  </a:tcPr>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r>
                        <a:rPr lang="hr">
                          <a:solidFill>
                            <a:srgbClr val="45384A"/>
                          </a:solidFill>
                        </a:rPr>
                        <a:t>Recall</a:t>
                      </a:r>
                      <a:endParaRPr>
                        <a:solidFill>
                          <a:srgbClr val="45384A"/>
                        </a:solidFill>
                      </a:endParaRPr>
                    </a:p>
                  </a:txBody>
                  <a:tcPr marL="91425" marR="91425" marT="91425" marB="91425">
                    <a:noFill/>
                  </a:tcPr>
                </a:tc>
                <a:tc>
                  <a:txBody>
                    <a:bodyPr/>
                    <a:lstStyle/>
                    <a:p>
                      <a:pPr marL="0" lvl="0" indent="0" algn="ctr" rtl="0">
                        <a:spcBef>
                          <a:spcPts val="0"/>
                        </a:spcBef>
                        <a:spcAft>
                          <a:spcPts val="0"/>
                        </a:spcAft>
                        <a:buNone/>
                      </a:pPr>
                      <a:r>
                        <a:rPr lang="hr">
                          <a:solidFill>
                            <a:srgbClr val="45384A"/>
                          </a:solidFill>
                        </a:rPr>
                        <a:t>0.9026 </a:t>
                      </a:r>
                      <a:endParaRPr>
                        <a:solidFill>
                          <a:srgbClr val="45384A"/>
                        </a:solidFill>
                      </a:endParaRPr>
                    </a:p>
                  </a:txBody>
                  <a:tcPr marL="91425" marR="91425" marT="91425" marB="91425" anchor="ctr">
                    <a:noFill/>
                  </a:tcPr>
                </a:tc>
                <a:tc>
                  <a:txBody>
                    <a:bodyPr/>
                    <a:lstStyle/>
                    <a:p>
                      <a:pPr marL="0" lvl="0" indent="0" algn="ctr" rtl="0">
                        <a:spcBef>
                          <a:spcPts val="0"/>
                        </a:spcBef>
                        <a:spcAft>
                          <a:spcPts val="0"/>
                        </a:spcAft>
                        <a:buClr>
                          <a:schemeClr val="dk1"/>
                        </a:buClr>
                        <a:buSzPts val="1100"/>
                        <a:buFont typeface="Arial"/>
                        <a:buNone/>
                      </a:pPr>
                      <a:r>
                        <a:rPr lang="hr">
                          <a:solidFill>
                            <a:srgbClr val="45384A"/>
                          </a:solidFill>
                        </a:rPr>
                        <a:t>0.9658  </a:t>
                      </a:r>
                      <a:endParaRPr>
                        <a:solidFill>
                          <a:srgbClr val="45384A"/>
                        </a:solidFill>
                      </a:endParaRPr>
                    </a:p>
                  </a:txBody>
                  <a:tcPr marL="91425" marR="91425" marT="91425" marB="91425" anchor="ctr">
                    <a:noFill/>
                  </a:tcPr>
                </a:tc>
                <a:tc>
                  <a:txBody>
                    <a:bodyPr/>
                    <a:lstStyle/>
                    <a:p>
                      <a:pPr marL="0" lvl="0" indent="0" algn="ctr" rtl="0">
                        <a:spcBef>
                          <a:spcPts val="0"/>
                        </a:spcBef>
                        <a:spcAft>
                          <a:spcPts val="0"/>
                        </a:spcAft>
                        <a:buClr>
                          <a:schemeClr val="dk1"/>
                        </a:buClr>
                        <a:buSzPts val="1100"/>
                        <a:buFont typeface="Arial"/>
                        <a:buNone/>
                      </a:pPr>
                      <a:r>
                        <a:rPr lang="hr">
                          <a:solidFill>
                            <a:srgbClr val="45384A"/>
                          </a:solidFill>
                        </a:rPr>
                        <a:t>0.9861 </a:t>
                      </a:r>
                      <a:endParaRPr>
                        <a:solidFill>
                          <a:srgbClr val="45384A"/>
                        </a:solidFill>
                      </a:endParaRPr>
                    </a:p>
                  </a:txBody>
                  <a:tcPr marL="91425" marR="91425" marT="91425" marB="91425" anchor="ctr">
                    <a:noFill/>
                  </a:tcPr>
                </a:tc>
                <a:extLst>
                  <a:ext uri="{0D108BD9-81ED-4DB2-BD59-A6C34878D82A}">
                    <a16:rowId xmlns:a16="http://schemas.microsoft.com/office/drawing/2014/main" val="10004"/>
                  </a:ext>
                </a:extLst>
              </a:tr>
              <a:tr h="381000">
                <a:tc>
                  <a:txBody>
                    <a:bodyPr/>
                    <a:lstStyle/>
                    <a:p>
                      <a:pPr marL="0" lvl="0" indent="0" algn="ctr" rtl="0">
                        <a:spcBef>
                          <a:spcPts val="0"/>
                        </a:spcBef>
                        <a:spcAft>
                          <a:spcPts val="0"/>
                        </a:spcAft>
                        <a:buNone/>
                      </a:pPr>
                      <a:r>
                        <a:rPr lang="hr" i="1">
                          <a:solidFill>
                            <a:srgbClr val="45384A"/>
                          </a:solidFill>
                        </a:rPr>
                        <a:t>F1</a:t>
                      </a:r>
                      <a:r>
                        <a:rPr lang="hr">
                          <a:solidFill>
                            <a:srgbClr val="45384A"/>
                          </a:solidFill>
                        </a:rPr>
                        <a:t>-score</a:t>
                      </a:r>
                      <a:endParaRPr>
                        <a:solidFill>
                          <a:srgbClr val="45384A"/>
                        </a:solidFill>
                      </a:endParaRPr>
                    </a:p>
                  </a:txBody>
                  <a:tcPr marL="91425" marR="91425" marT="91425" marB="91425">
                    <a:noFill/>
                  </a:tcPr>
                </a:tc>
                <a:tc>
                  <a:txBody>
                    <a:bodyPr/>
                    <a:lstStyle/>
                    <a:p>
                      <a:pPr marL="0" lvl="0" indent="0" algn="ctr" rtl="0">
                        <a:spcBef>
                          <a:spcPts val="0"/>
                        </a:spcBef>
                        <a:spcAft>
                          <a:spcPts val="0"/>
                        </a:spcAft>
                        <a:buNone/>
                      </a:pPr>
                      <a:r>
                        <a:rPr lang="hr">
                          <a:solidFill>
                            <a:srgbClr val="45384A"/>
                          </a:solidFill>
                        </a:rPr>
                        <a:t>0.9021 </a:t>
                      </a:r>
                      <a:endParaRPr>
                        <a:solidFill>
                          <a:srgbClr val="45384A"/>
                        </a:solidFill>
                      </a:endParaRPr>
                    </a:p>
                  </a:txBody>
                  <a:tcPr marL="91425" marR="91425" marT="91425" marB="91425" anchor="ctr">
                    <a:noFill/>
                  </a:tcPr>
                </a:tc>
                <a:tc>
                  <a:txBody>
                    <a:bodyPr/>
                    <a:lstStyle/>
                    <a:p>
                      <a:pPr marL="0" lvl="0" indent="0" algn="ctr" rtl="0">
                        <a:spcBef>
                          <a:spcPts val="0"/>
                        </a:spcBef>
                        <a:spcAft>
                          <a:spcPts val="0"/>
                        </a:spcAft>
                        <a:buClr>
                          <a:schemeClr val="dk1"/>
                        </a:buClr>
                        <a:buSzPts val="1100"/>
                        <a:buFont typeface="Arial"/>
                        <a:buNone/>
                      </a:pPr>
                      <a:r>
                        <a:rPr lang="hr">
                          <a:solidFill>
                            <a:srgbClr val="45384A"/>
                          </a:solidFill>
                        </a:rPr>
                        <a:t>0.9663</a:t>
                      </a:r>
                      <a:endParaRPr>
                        <a:solidFill>
                          <a:srgbClr val="45384A"/>
                        </a:solidFill>
                      </a:endParaRPr>
                    </a:p>
                  </a:txBody>
                  <a:tcPr marL="91425" marR="91425" marT="91425" marB="91425" anchor="ctr">
                    <a:noFill/>
                  </a:tcPr>
                </a:tc>
                <a:tc>
                  <a:txBody>
                    <a:bodyPr/>
                    <a:lstStyle/>
                    <a:p>
                      <a:pPr marL="0" lvl="0" indent="0" algn="ctr" rtl="0">
                        <a:spcBef>
                          <a:spcPts val="0"/>
                        </a:spcBef>
                        <a:spcAft>
                          <a:spcPts val="0"/>
                        </a:spcAft>
                        <a:buClr>
                          <a:schemeClr val="dk1"/>
                        </a:buClr>
                        <a:buSzPts val="1100"/>
                        <a:buFont typeface="Arial"/>
                        <a:buNone/>
                      </a:pPr>
                      <a:r>
                        <a:rPr lang="hr">
                          <a:solidFill>
                            <a:srgbClr val="45384A"/>
                          </a:solidFill>
                        </a:rPr>
                        <a:t>0.9863</a:t>
                      </a:r>
                      <a:endParaRPr>
                        <a:solidFill>
                          <a:srgbClr val="45384A"/>
                        </a:solidFill>
                      </a:endParaRPr>
                    </a:p>
                  </a:txBody>
                  <a:tcPr marL="91425" marR="91425" marT="91425" marB="91425" anchor="ct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5"/>
          <p:cNvSpPr/>
          <p:nvPr/>
        </p:nvSpPr>
        <p:spPr>
          <a:xfrm>
            <a:off x="0" y="0"/>
            <a:ext cx="10835640" cy="51435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219" b="-9219"/>
            </a:stretch>
          </a:blipFill>
          <a:ln>
            <a:noFill/>
          </a:ln>
        </p:spPr>
        <p:txBody>
          <a:bodyPr/>
          <a:lstStyle/>
          <a:p>
            <a:endParaRPr lang="hr-HR"/>
          </a:p>
        </p:txBody>
      </p:sp>
      <p:sp>
        <p:nvSpPr>
          <p:cNvPr id="240" name="Google Shape;240;p35"/>
          <p:cNvSpPr txBox="1"/>
          <p:nvPr/>
        </p:nvSpPr>
        <p:spPr>
          <a:xfrm>
            <a:off x="2230051" y="651455"/>
            <a:ext cx="4683900" cy="715800"/>
          </a:xfrm>
          <a:prstGeom prst="rect">
            <a:avLst/>
          </a:prstGeom>
          <a:noFill/>
          <a:ln>
            <a:noFill/>
          </a:ln>
        </p:spPr>
        <p:txBody>
          <a:bodyPr spcFirstLastPara="1" wrap="square" lIns="0" tIns="0" rIns="0" bIns="0" anchor="t" anchorCtr="0">
            <a:spAutoFit/>
          </a:bodyPr>
          <a:lstStyle/>
          <a:p>
            <a:pPr marL="0" marR="0" lvl="1" indent="0" algn="ctr" rtl="0">
              <a:lnSpc>
                <a:spcPct val="93000"/>
              </a:lnSpc>
              <a:spcBef>
                <a:spcPts val="0"/>
              </a:spcBef>
              <a:spcAft>
                <a:spcPts val="0"/>
              </a:spcAft>
              <a:buNone/>
            </a:pPr>
            <a:r>
              <a:rPr lang="hr" sz="5000">
                <a:solidFill>
                  <a:srgbClr val="45384A"/>
                </a:solidFill>
                <a:latin typeface="Shadows Into Light"/>
                <a:ea typeface="Shadows Into Light"/>
                <a:cs typeface="Shadows Into Light"/>
                <a:sym typeface="Shadows Into Light"/>
              </a:rPr>
              <a:t>Confusion matrices</a:t>
            </a:r>
            <a:endParaRPr sz="700"/>
          </a:p>
        </p:txBody>
      </p:sp>
      <p:sp>
        <p:nvSpPr>
          <p:cNvPr id="241" name="Google Shape;241;p35"/>
          <p:cNvSpPr txBox="1"/>
          <p:nvPr/>
        </p:nvSpPr>
        <p:spPr>
          <a:xfrm>
            <a:off x="6175085" y="1958164"/>
            <a:ext cx="2268600" cy="104400"/>
          </a:xfrm>
          <a:prstGeom prst="rect">
            <a:avLst/>
          </a:prstGeom>
          <a:noFill/>
          <a:ln>
            <a:noFill/>
          </a:ln>
        </p:spPr>
        <p:txBody>
          <a:bodyPr spcFirstLastPara="1" wrap="square" lIns="0" tIns="0" rIns="0" bIns="0" anchor="t" anchorCtr="0">
            <a:spAutoFit/>
          </a:bodyPr>
          <a:lstStyle/>
          <a:p>
            <a:pPr marL="0" marR="0" lvl="1" indent="0" algn="ctr" rtl="0">
              <a:lnSpc>
                <a:spcPct val="97014"/>
              </a:lnSpc>
              <a:spcBef>
                <a:spcPts val="0"/>
              </a:spcBef>
              <a:spcAft>
                <a:spcPts val="0"/>
              </a:spcAft>
              <a:buNone/>
            </a:pPr>
            <a:endParaRPr sz="700"/>
          </a:p>
        </p:txBody>
      </p:sp>
      <p:pic>
        <p:nvPicPr>
          <p:cNvPr id="242" name="Google Shape;242;p35" title="7.png"/>
          <p:cNvPicPr preferRelativeResize="0"/>
          <p:nvPr/>
        </p:nvPicPr>
        <p:blipFill>
          <a:blip r:embed="rId4">
            <a:alphaModFix/>
          </a:blip>
          <a:stretch>
            <a:fillRect/>
          </a:stretch>
        </p:blipFill>
        <p:spPr>
          <a:xfrm>
            <a:off x="3200537" y="1934356"/>
            <a:ext cx="2742925" cy="2057194"/>
          </a:xfrm>
          <a:prstGeom prst="rect">
            <a:avLst/>
          </a:prstGeom>
          <a:noFill/>
          <a:ln>
            <a:noFill/>
          </a:ln>
        </p:spPr>
      </p:pic>
      <p:pic>
        <p:nvPicPr>
          <p:cNvPr id="243" name="Google Shape;243;p35" title="4.png"/>
          <p:cNvPicPr preferRelativeResize="0"/>
          <p:nvPr/>
        </p:nvPicPr>
        <p:blipFill>
          <a:blip r:embed="rId5">
            <a:alphaModFix/>
          </a:blip>
          <a:stretch>
            <a:fillRect/>
          </a:stretch>
        </p:blipFill>
        <p:spPr>
          <a:xfrm>
            <a:off x="153129" y="1934350"/>
            <a:ext cx="2742933" cy="2057200"/>
          </a:xfrm>
          <a:prstGeom prst="rect">
            <a:avLst/>
          </a:prstGeom>
          <a:noFill/>
          <a:ln>
            <a:noFill/>
          </a:ln>
        </p:spPr>
      </p:pic>
      <p:pic>
        <p:nvPicPr>
          <p:cNvPr id="244" name="Google Shape;244;p35" title="dk.png"/>
          <p:cNvPicPr preferRelativeResize="0"/>
          <p:nvPr/>
        </p:nvPicPr>
        <p:blipFill>
          <a:blip r:embed="rId6">
            <a:alphaModFix/>
          </a:blip>
          <a:stretch>
            <a:fillRect/>
          </a:stretch>
        </p:blipFill>
        <p:spPr>
          <a:xfrm>
            <a:off x="6247950" y="1898856"/>
            <a:ext cx="2742925" cy="2057194"/>
          </a:xfrm>
          <a:prstGeom prst="rect">
            <a:avLst/>
          </a:prstGeom>
          <a:noFill/>
          <a:ln>
            <a:noFill/>
          </a:ln>
        </p:spPr>
      </p:pic>
      <p:sp>
        <p:nvSpPr>
          <p:cNvPr id="245" name="Google Shape;245;p35"/>
          <p:cNvSpPr txBox="1"/>
          <p:nvPr/>
        </p:nvSpPr>
        <p:spPr>
          <a:xfrm>
            <a:off x="114775" y="3803650"/>
            <a:ext cx="2399100" cy="560700"/>
          </a:xfrm>
          <a:prstGeom prst="rect">
            <a:avLst/>
          </a:prstGeom>
          <a:noFill/>
          <a:ln>
            <a:noFill/>
          </a:ln>
        </p:spPr>
        <p:txBody>
          <a:bodyPr spcFirstLastPara="1" wrap="square" lIns="0" tIns="0" rIns="0" bIns="0" anchor="t" anchorCtr="0">
            <a:spAutoFit/>
          </a:bodyPr>
          <a:lstStyle/>
          <a:p>
            <a:pPr marL="0" marR="0" lvl="0" indent="0" algn="l" rtl="0">
              <a:lnSpc>
                <a:spcPct val="96999"/>
              </a:lnSpc>
              <a:spcBef>
                <a:spcPts val="0"/>
              </a:spcBef>
              <a:spcAft>
                <a:spcPts val="0"/>
              </a:spcAft>
              <a:buNone/>
            </a:pPr>
            <a:endParaRPr sz="1900"/>
          </a:p>
          <a:p>
            <a:pPr marL="457200" marR="0" lvl="0" indent="0" algn="ctr" rtl="0">
              <a:lnSpc>
                <a:spcPct val="150000"/>
              </a:lnSpc>
              <a:spcBef>
                <a:spcPts val="0"/>
              </a:spcBef>
              <a:spcAft>
                <a:spcPts val="0"/>
              </a:spcAft>
              <a:buNone/>
            </a:pPr>
            <a:r>
              <a:rPr lang="hr" sz="1800">
                <a:solidFill>
                  <a:srgbClr val="45384A"/>
                </a:solidFill>
              </a:rPr>
              <a:t>First CNN model</a:t>
            </a:r>
            <a:endParaRPr sz="1800">
              <a:solidFill>
                <a:srgbClr val="45384A"/>
              </a:solidFill>
            </a:endParaRPr>
          </a:p>
        </p:txBody>
      </p:sp>
      <p:sp>
        <p:nvSpPr>
          <p:cNvPr id="246" name="Google Shape;246;p35"/>
          <p:cNvSpPr txBox="1"/>
          <p:nvPr/>
        </p:nvSpPr>
        <p:spPr>
          <a:xfrm>
            <a:off x="456025" y="3979875"/>
            <a:ext cx="2399100" cy="277200"/>
          </a:xfrm>
          <a:prstGeom prst="rect">
            <a:avLst/>
          </a:prstGeom>
          <a:noFill/>
          <a:ln>
            <a:noFill/>
          </a:ln>
        </p:spPr>
        <p:txBody>
          <a:bodyPr spcFirstLastPara="1" wrap="square" lIns="0" tIns="0" rIns="0" bIns="0" anchor="t" anchorCtr="0">
            <a:spAutoFit/>
          </a:bodyPr>
          <a:lstStyle/>
          <a:p>
            <a:pPr marL="457200" marR="0" lvl="0" indent="0" algn="ctr" rtl="0">
              <a:lnSpc>
                <a:spcPct val="150000"/>
              </a:lnSpc>
              <a:spcBef>
                <a:spcPts val="0"/>
              </a:spcBef>
              <a:spcAft>
                <a:spcPts val="0"/>
              </a:spcAft>
              <a:buNone/>
            </a:pPr>
            <a:endParaRPr sz="1800">
              <a:solidFill>
                <a:srgbClr val="45384A"/>
              </a:solidFill>
            </a:endParaRPr>
          </a:p>
        </p:txBody>
      </p:sp>
      <p:sp>
        <p:nvSpPr>
          <p:cNvPr id="247" name="Google Shape;247;p35"/>
          <p:cNvSpPr txBox="1"/>
          <p:nvPr/>
        </p:nvSpPr>
        <p:spPr>
          <a:xfrm>
            <a:off x="2156950" y="4087150"/>
            <a:ext cx="4186500" cy="277200"/>
          </a:xfrm>
          <a:prstGeom prst="rect">
            <a:avLst/>
          </a:prstGeom>
          <a:noFill/>
          <a:ln>
            <a:noFill/>
          </a:ln>
        </p:spPr>
        <p:txBody>
          <a:bodyPr spcFirstLastPara="1" wrap="square" lIns="0" tIns="0" rIns="0" bIns="0" anchor="t" anchorCtr="0">
            <a:spAutoFit/>
          </a:bodyPr>
          <a:lstStyle/>
          <a:p>
            <a:pPr marL="457200" marR="0" lvl="0" indent="0" algn="ctr" rtl="0">
              <a:lnSpc>
                <a:spcPct val="150000"/>
              </a:lnSpc>
              <a:spcBef>
                <a:spcPts val="0"/>
              </a:spcBef>
              <a:spcAft>
                <a:spcPts val="0"/>
              </a:spcAft>
              <a:buNone/>
            </a:pPr>
            <a:r>
              <a:rPr lang="hr" sz="1800">
                <a:solidFill>
                  <a:srgbClr val="45384A"/>
                </a:solidFill>
              </a:rPr>
              <a:t>Simplified EfficientNet model</a:t>
            </a:r>
            <a:endParaRPr sz="1800">
              <a:solidFill>
                <a:srgbClr val="45384A"/>
              </a:solidFill>
            </a:endParaRPr>
          </a:p>
        </p:txBody>
      </p:sp>
      <p:sp>
        <p:nvSpPr>
          <p:cNvPr id="248" name="Google Shape;248;p35"/>
          <p:cNvSpPr txBox="1"/>
          <p:nvPr/>
        </p:nvSpPr>
        <p:spPr>
          <a:xfrm>
            <a:off x="6497250" y="4087150"/>
            <a:ext cx="2399100" cy="277200"/>
          </a:xfrm>
          <a:prstGeom prst="rect">
            <a:avLst/>
          </a:prstGeom>
          <a:noFill/>
          <a:ln>
            <a:noFill/>
          </a:ln>
        </p:spPr>
        <p:txBody>
          <a:bodyPr spcFirstLastPara="1" wrap="square" lIns="0" tIns="0" rIns="0" bIns="0" anchor="t" anchorCtr="0">
            <a:spAutoFit/>
          </a:bodyPr>
          <a:lstStyle/>
          <a:p>
            <a:pPr marL="457200" marR="0" lvl="0" indent="0" algn="ctr" rtl="0">
              <a:lnSpc>
                <a:spcPct val="150000"/>
              </a:lnSpc>
              <a:spcBef>
                <a:spcPts val="0"/>
              </a:spcBef>
              <a:spcAft>
                <a:spcPts val="0"/>
              </a:spcAft>
              <a:buNone/>
            </a:pPr>
            <a:r>
              <a:rPr lang="hr" sz="1800">
                <a:solidFill>
                  <a:srgbClr val="45384A"/>
                </a:solidFill>
              </a:rPr>
              <a:t>EfficientNet-B3</a:t>
            </a:r>
            <a:endParaRPr sz="1800">
              <a:solidFill>
                <a:srgbClr val="45384A"/>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6"/>
          <p:cNvSpPr txBox="1"/>
          <p:nvPr/>
        </p:nvSpPr>
        <p:spPr>
          <a:xfrm>
            <a:off x="3823275" y="836475"/>
            <a:ext cx="4683900" cy="727800"/>
          </a:xfrm>
          <a:prstGeom prst="rect">
            <a:avLst/>
          </a:prstGeom>
          <a:noFill/>
          <a:ln>
            <a:noFill/>
          </a:ln>
        </p:spPr>
        <p:txBody>
          <a:bodyPr spcFirstLastPara="1" wrap="square" lIns="0" tIns="0" rIns="0" bIns="0" anchor="t" anchorCtr="0">
            <a:spAutoFit/>
          </a:bodyPr>
          <a:lstStyle/>
          <a:p>
            <a:pPr marL="0" marR="0" lvl="1" indent="0" algn="r" rtl="0">
              <a:lnSpc>
                <a:spcPct val="93000"/>
              </a:lnSpc>
              <a:spcBef>
                <a:spcPts val="0"/>
              </a:spcBef>
              <a:spcAft>
                <a:spcPts val="0"/>
              </a:spcAft>
              <a:buNone/>
            </a:pPr>
            <a:r>
              <a:rPr lang="hr" sz="5000" b="0" i="0" u="none" strike="noStrike" cap="none">
                <a:solidFill>
                  <a:srgbClr val="45384A"/>
                </a:solidFill>
                <a:latin typeface="Shadows Into Light"/>
                <a:ea typeface="Shadows Into Light"/>
                <a:cs typeface="Shadows Into Light"/>
                <a:sym typeface="Shadows Into Light"/>
              </a:rPr>
              <a:t>CONCLUSIONS</a:t>
            </a:r>
            <a:endParaRPr sz="700"/>
          </a:p>
        </p:txBody>
      </p:sp>
      <p:sp>
        <p:nvSpPr>
          <p:cNvPr id="254" name="Google Shape;254;p36"/>
          <p:cNvSpPr txBox="1"/>
          <p:nvPr/>
        </p:nvSpPr>
        <p:spPr>
          <a:xfrm>
            <a:off x="4572000" y="1700902"/>
            <a:ext cx="3935100" cy="2122500"/>
          </a:xfrm>
          <a:prstGeom prst="rect">
            <a:avLst/>
          </a:prstGeom>
          <a:noFill/>
          <a:ln>
            <a:noFill/>
          </a:ln>
        </p:spPr>
        <p:txBody>
          <a:bodyPr spcFirstLastPara="1" wrap="square" lIns="0" tIns="0" rIns="0" bIns="0" anchor="t" anchorCtr="0">
            <a:spAutoFit/>
          </a:bodyPr>
          <a:lstStyle/>
          <a:p>
            <a:pPr marL="0" marR="0" lvl="1" indent="0" algn="ctr" rtl="0">
              <a:lnSpc>
                <a:spcPct val="96999"/>
              </a:lnSpc>
              <a:spcBef>
                <a:spcPts val="0"/>
              </a:spcBef>
              <a:spcAft>
                <a:spcPts val="0"/>
              </a:spcAft>
              <a:buNone/>
            </a:pPr>
            <a:r>
              <a:rPr lang="hr" sz="1900" b="0" i="0" u="none" strike="noStrike" cap="none">
                <a:solidFill>
                  <a:srgbClr val="000000"/>
                </a:solidFill>
                <a:latin typeface="Arial"/>
                <a:ea typeface="Arial"/>
                <a:cs typeface="Arial"/>
                <a:sym typeface="Arial"/>
              </a:rPr>
              <a:t>Lorem ipsum dolor sit amet, consectetur adipiscing elit. Mauris sit amet vehicula est, semper semper dolor. Etiam porta pellentesque pretium. Aenean at rutrum nulla. Ut ultrices nulla quis felis tincidunt mattis. Nulla commodo arcu odio, vel rutrum diam euismod sit amet. Donec id dolor sit amet mi dictum porttitor.</a:t>
            </a:r>
            <a:endParaRPr sz="700"/>
          </a:p>
        </p:txBody>
      </p:sp>
      <p:sp>
        <p:nvSpPr>
          <p:cNvPr id="255" name="Google Shape;255;p36"/>
          <p:cNvSpPr/>
          <p:nvPr/>
        </p:nvSpPr>
        <p:spPr>
          <a:xfrm>
            <a:off x="0" y="0"/>
            <a:ext cx="10835640" cy="51435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219" b="-9219"/>
            </a:stretch>
          </a:blipFill>
          <a:ln>
            <a:noFill/>
          </a:ln>
        </p:spPr>
        <p:txBody>
          <a:bodyPr/>
          <a:lstStyle/>
          <a:p>
            <a:endParaRPr lang="hr-HR"/>
          </a:p>
        </p:txBody>
      </p:sp>
      <p:sp>
        <p:nvSpPr>
          <p:cNvPr id="256" name="Google Shape;256;p36"/>
          <p:cNvSpPr txBox="1"/>
          <p:nvPr/>
        </p:nvSpPr>
        <p:spPr>
          <a:xfrm>
            <a:off x="2230051" y="496680"/>
            <a:ext cx="4683900" cy="715800"/>
          </a:xfrm>
          <a:prstGeom prst="rect">
            <a:avLst/>
          </a:prstGeom>
          <a:noFill/>
          <a:ln>
            <a:noFill/>
          </a:ln>
        </p:spPr>
        <p:txBody>
          <a:bodyPr spcFirstLastPara="1" wrap="square" lIns="0" tIns="0" rIns="0" bIns="0" anchor="t" anchorCtr="0">
            <a:spAutoFit/>
          </a:bodyPr>
          <a:lstStyle/>
          <a:p>
            <a:pPr marL="0" marR="0" lvl="1" indent="0" algn="ctr" rtl="0">
              <a:lnSpc>
                <a:spcPct val="93000"/>
              </a:lnSpc>
              <a:spcBef>
                <a:spcPts val="0"/>
              </a:spcBef>
              <a:spcAft>
                <a:spcPts val="0"/>
              </a:spcAft>
              <a:buNone/>
            </a:pPr>
            <a:r>
              <a:rPr lang="hr" sz="5000">
                <a:solidFill>
                  <a:srgbClr val="45384A"/>
                </a:solidFill>
                <a:latin typeface="Shadows Into Light"/>
                <a:ea typeface="Shadows Into Light"/>
                <a:cs typeface="Shadows Into Light"/>
                <a:sym typeface="Shadows Into Light"/>
              </a:rPr>
              <a:t>CONCLUSION</a:t>
            </a:r>
            <a:endParaRPr sz="700"/>
          </a:p>
        </p:txBody>
      </p:sp>
      <p:sp>
        <p:nvSpPr>
          <p:cNvPr id="257" name="Google Shape;257;p36"/>
          <p:cNvSpPr txBox="1"/>
          <p:nvPr/>
        </p:nvSpPr>
        <p:spPr>
          <a:xfrm>
            <a:off x="734900" y="1438850"/>
            <a:ext cx="6072000" cy="2646600"/>
          </a:xfrm>
          <a:prstGeom prst="rect">
            <a:avLst/>
          </a:prstGeom>
          <a:noFill/>
          <a:ln>
            <a:noFill/>
          </a:ln>
        </p:spPr>
        <p:txBody>
          <a:bodyPr spcFirstLastPara="1" wrap="square" lIns="0" tIns="0" rIns="0" bIns="0" anchor="t" anchorCtr="0">
            <a:spAutoFit/>
          </a:bodyPr>
          <a:lstStyle/>
          <a:p>
            <a:pPr marL="457200" lvl="0" indent="-349250" algn="l" rtl="0">
              <a:lnSpc>
                <a:spcPct val="115000"/>
              </a:lnSpc>
              <a:spcBef>
                <a:spcPts val="1200"/>
              </a:spcBef>
              <a:spcAft>
                <a:spcPts val="0"/>
              </a:spcAft>
              <a:buClr>
                <a:schemeClr val="dk1"/>
              </a:buClr>
              <a:buSzPts val="1900"/>
              <a:buChar char="●"/>
            </a:pPr>
            <a:r>
              <a:rPr lang="hr" sz="1900">
                <a:solidFill>
                  <a:schemeClr val="dk1"/>
                </a:solidFill>
              </a:rPr>
              <a:t>CNN models successfully classify brain tumors from MRI images</a:t>
            </a:r>
            <a:endParaRPr sz="1900">
              <a:solidFill>
                <a:schemeClr val="dk1"/>
              </a:solidFill>
            </a:endParaRPr>
          </a:p>
          <a:p>
            <a:pPr marL="457200" lvl="0" indent="-349250" algn="l" rtl="0">
              <a:lnSpc>
                <a:spcPct val="115000"/>
              </a:lnSpc>
              <a:spcBef>
                <a:spcPts val="0"/>
              </a:spcBef>
              <a:spcAft>
                <a:spcPts val="0"/>
              </a:spcAft>
              <a:buClr>
                <a:schemeClr val="dk1"/>
              </a:buClr>
              <a:buSzPts val="1900"/>
              <a:buChar char="●"/>
            </a:pPr>
            <a:r>
              <a:rPr lang="hr" sz="1900">
                <a:solidFill>
                  <a:schemeClr val="dk1"/>
                </a:solidFill>
              </a:rPr>
              <a:t>EfficientNet-B3 achieved the best performance (98.7% accuracy)</a:t>
            </a:r>
            <a:endParaRPr sz="1900">
              <a:solidFill>
                <a:schemeClr val="dk1"/>
              </a:solidFill>
            </a:endParaRPr>
          </a:p>
          <a:p>
            <a:pPr marL="457200" lvl="0" indent="-349250" algn="l" rtl="0">
              <a:lnSpc>
                <a:spcPct val="115000"/>
              </a:lnSpc>
              <a:spcBef>
                <a:spcPts val="0"/>
              </a:spcBef>
              <a:spcAft>
                <a:spcPts val="0"/>
              </a:spcAft>
              <a:buClr>
                <a:schemeClr val="dk1"/>
              </a:buClr>
              <a:buSzPts val="1900"/>
              <a:buChar char="●"/>
            </a:pPr>
            <a:r>
              <a:rPr lang="hr" sz="1900">
                <a:solidFill>
                  <a:schemeClr val="dk1"/>
                </a:solidFill>
              </a:rPr>
              <a:t>transfer learning significantly improves classification accuracy</a:t>
            </a:r>
            <a:endParaRPr sz="1900">
              <a:solidFill>
                <a:schemeClr val="dk1"/>
              </a:solidFill>
            </a:endParaRPr>
          </a:p>
          <a:p>
            <a:pPr marL="457200" lvl="0" indent="-349250" algn="l" rtl="0">
              <a:lnSpc>
                <a:spcPct val="115000"/>
              </a:lnSpc>
              <a:spcBef>
                <a:spcPts val="0"/>
              </a:spcBef>
              <a:spcAft>
                <a:spcPts val="0"/>
              </a:spcAft>
              <a:buClr>
                <a:schemeClr val="dk1"/>
              </a:buClr>
              <a:buSzPts val="1900"/>
              <a:buChar char="●"/>
            </a:pPr>
            <a:r>
              <a:rPr lang="hr" sz="1900">
                <a:solidFill>
                  <a:schemeClr val="dk1"/>
                </a:solidFill>
              </a:rPr>
              <a:t>the approach shows strong potential for clinical application</a:t>
            </a:r>
            <a:endParaRPr sz="1900"/>
          </a:p>
        </p:txBody>
      </p:sp>
      <p:sp>
        <p:nvSpPr>
          <p:cNvPr id="258" name="Google Shape;258;p36"/>
          <p:cNvSpPr/>
          <p:nvPr/>
        </p:nvSpPr>
        <p:spPr>
          <a:xfrm>
            <a:off x="6913919" y="2403044"/>
            <a:ext cx="1674648" cy="2122490"/>
          </a:xfrm>
          <a:custGeom>
            <a:avLst/>
            <a:gdLst/>
            <a:ahLst/>
            <a:cxnLst/>
            <a:rect l="l" t="t" r="r" b="b"/>
            <a:pathLst>
              <a:path w="1298177" h="1583948" extrusionOk="0">
                <a:moveTo>
                  <a:pt x="0" y="0"/>
                </a:moveTo>
                <a:lnTo>
                  <a:pt x="1298177" y="0"/>
                </a:lnTo>
                <a:lnTo>
                  <a:pt x="1298177" y="1583948"/>
                </a:lnTo>
                <a:lnTo>
                  <a:pt x="0" y="1583948"/>
                </a:lnTo>
                <a:lnTo>
                  <a:pt x="0" y="0"/>
                </a:lnTo>
                <a:close/>
              </a:path>
            </a:pathLst>
          </a:custGeom>
          <a:blipFill rotWithShape="1">
            <a:blip r:embed="rId4">
              <a:alphaModFix/>
            </a:blip>
            <a:stretch>
              <a:fillRect/>
            </a:stretch>
          </a:blipFill>
          <a:ln>
            <a:noFill/>
          </a:ln>
        </p:spPr>
        <p:txBody>
          <a:bodyPr/>
          <a:lstStyle/>
          <a:p>
            <a:endParaRPr lang="hr-H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642</Words>
  <Application>Microsoft Office PowerPoint</Application>
  <PresentationFormat>On-screen Show (16:9)</PresentationFormat>
  <Paragraphs>116</Paragraphs>
  <Slides>12</Slides>
  <Notes>12</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12</vt:i4>
      </vt:variant>
    </vt:vector>
  </HeadingPairs>
  <TitlesOfParts>
    <vt:vector size="17" baseType="lpstr">
      <vt:lpstr>Arial</vt:lpstr>
      <vt:lpstr>Shadows Into Light</vt:lpstr>
      <vt:lpstr>Calibri</vt:lpstr>
      <vt:lpstr>Simple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Karla Budimir</cp:lastModifiedBy>
  <cp:revision>1</cp:revision>
  <dcterms:modified xsi:type="dcterms:W3CDTF">2026-01-21T21:34:45Z</dcterms:modified>
</cp:coreProperties>
</file>